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presProps" Target="presProps.xml" /><Relationship Id="rId5" Type="http://schemas.openxmlformats.org/officeDocument/2006/relationships/slide" Target="slides/slide4.xml" /><Relationship Id="rId10"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94B07356-E4C4-5B4F-843D-14653A59C3C3}" type="datetimeFigureOut">
              <a:rPr lang="en-US" smtClean="0"/>
              <a:t>9/29/2026</a:t>
            </a:fld>
            <a:endParaRPr lang="en-US"/>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449E3B83-5DA5-144F-91D6-7593DD604DAD}" type="slidenum">
              <a:rPr lang="en-US" smtClean="0"/>
              <a:t>‹#›</a:t>
            </a:fld>
            <a:endParaRPr lang="en-US"/>
          </a:p>
        </p:txBody>
      </p:sp>
    </p:spTree>
    <p:extLst>
      <p:ext uri="{BB962C8B-B14F-4D97-AF65-F5344CB8AC3E}">
        <p14:creationId xmlns:p14="http://schemas.microsoft.com/office/powerpoint/2010/main" val="976684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2.xml" /><Relationship Id="rId1" Type="http://schemas.openxmlformats.org/officeDocument/2006/relationships/slideLayout" Target="../slideLayouts/slideLayout1.xml" /><Relationship Id="rId5" Type="http://schemas.openxmlformats.org/officeDocument/2006/relationships/image" Target="../media/image4.png" /><Relationship Id="rId4" Type="http://schemas.openxmlformats.org/officeDocument/2006/relationships/image" Target="../media/image3.png" /></Relationships>
</file>

<file path=ppt/slides/_rels/slide3.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3.xml" /><Relationship Id="rId1" Type="http://schemas.openxmlformats.org/officeDocument/2006/relationships/slideLayout" Target="../slideLayouts/slideLayout1.xml" /><Relationship Id="rId5" Type="http://schemas.openxmlformats.org/officeDocument/2006/relationships/image" Target="../media/image4.png" /><Relationship Id="rId4" Type="http://schemas.openxmlformats.org/officeDocument/2006/relationships/image" Target="../media/image1.png" /></Relationships>
</file>

<file path=ppt/slides/_rels/slide4.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4.xml" /><Relationship Id="rId1" Type="http://schemas.openxmlformats.org/officeDocument/2006/relationships/slideLayout" Target="../slideLayouts/slideLayout1.xml" /><Relationship Id="rId5" Type="http://schemas.openxmlformats.org/officeDocument/2006/relationships/image" Target="../media/image4.png" /><Relationship Id="rId4" Type="http://schemas.openxmlformats.org/officeDocument/2006/relationships/image" Target="../media/image3.png" /></Relationships>
</file>

<file path=ppt/slides/_rels/slide5.xml.rels><?xml version="1.0" encoding="UTF-8" standalone="yes"?>
<Relationships xmlns="http://schemas.openxmlformats.org/package/2006/relationships"><Relationship Id="rId8" Type="http://schemas.openxmlformats.org/officeDocument/2006/relationships/image" Target="../media/image7.png" /><Relationship Id="rId3" Type="http://schemas.openxmlformats.org/officeDocument/2006/relationships/image" Target="../media/image5.png" /><Relationship Id="rId7" Type="http://schemas.openxmlformats.org/officeDocument/2006/relationships/image" Target="../media/image6.png" /><Relationship Id="rId2" Type="http://schemas.openxmlformats.org/officeDocument/2006/relationships/notesSlide" Target="../notesSlides/notesSlide5.xml" /><Relationship Id="rId1" Type="http://schemas.openxmlformats.org/officeDocument/2006/relationships/slideLayout" Target="../slideLayouts/slideLayout1.xml" /><Relationship Id="rId6" Type="http://schemas.openxmlformats.org/officeDocument/2006/relationships/image" Target="../media/image4.png" /><Relationship Id="rId5" Type="http://schemas.openxmlformats.org/officeDocument/2006/relationships/image" Target="../media/image3.png" /><Relationship Id="rId4" Type="http://schemas.openxmlformats.org/officeDocument/2006/relationships/image" Target="../media/image1.png"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3" Type="http://schemas.openxmlformats.org/officeDocument/2006/relationships/image" Target="../media/image8.jpg"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2A"/>
        </a:solidFill>
        <a:effectLst/>
      </p:bgPr>
    </p:bg>
    <p:spTree>
      <p:nvGrpSpPr>
        <p:cNvPr id="1" name=""/>
        <p:cNvGrpSpPr/>
        <p:nvPr/>
      </p:nvGrpSpPr>
      <p:grpSpPr>
        <a:xfrm>
          <a:off x="0" y="0"/>
          <a:ext cx="0" cy="0"/>
          <a:chOff x="0" y="0"/>
          <a:chExt cx="0" cy="0"/>
        </a:xfrm>
      </p:grpSpPr>
      <p:sp>
        <p:nvSpPr>
          <p:cNvPr id="2" name="Shape 0"/>
          <p:cNvSpPr/>
          <p:nvPr/>
        </p:nvSpPr>
        <p:spPr>
          <a:xfrm>
            <a:off x="6583680" y="1234440"/>
            <a:ext cx="1828800" cy="1828800"/>
          </a:xfrm>
          <a:prstGeom prst="ellipse">
            <a:avLst/>
          </a:prstGeom>
          <a:solidFill>
            <a:srgbClr val="FF6B35"/>
          </a:solidFill>
          <a:ln w="12700">
            <a:solidFill>
              <a:srgbClr val="FF6B35"/>
            </a:solidFill>
            <a:prstDash val="solid"/>
          </a:ln>
        </p:spPr>
      </p:sp>
      <p:pic>
        <p:nvPicPr>
          <p:cNvPr id="3" name="Image 0" descr="preencoded.png"/>
          <p:cNvPicPr>
            <a:picLocks noChangeAspect="1"/>
          </p:cNvPicPr>
          <p:nvPr/>
        </p:nvPicPr>
        <p:blipFill>
          <a:blip r:embed="rId3"/>
          <a:stretch>
            <a:fillRect/>
          </a:stretch>
        </p:blipFill>
        <p:spPr>
          <a:xfrm>
            <a:off x="7095744" y="1746504"/>
            <a:ext cx="804672" cy="804672"/>
          </a:xfrm>
          <a:prstGeom prst="rect">
            <a:avLst/>
          </a:prstGeom>
        </p:spPr>
      </p:pic>
      <p:sp>
        <p:nvSpPr>
          <p:cNvPr id="4" name="Text 1"/>
          <p:cNvSpPr txBox="1"/>
          <p:nvPr/>
        </p:nvSpPr>
        <p:spPr>
          <a:xfrm>
            <a:off x="548640" y="914400"/>
            <a:ext cx="5486400" cy="320040"/>
          </a:xfrm>
          <a:prstGeom prst="rect">
            <a:avLst/>
          </a:prstGeom>
          <a:noFill/>
          <a:ln/>
        </p:spPr>
        <p:txBody>
          <a:bodyPr wrap="square" lIns="0" tIns="0" rIns="0" bIns="0" rtlCol="0" anchor="ctr"/>
          <a:lstStyle/>
          <a:p>
            <a:pPr marL="0" indent="0">
              <a:buNone/>
            </a:pPr>
            <a:r>
              <a:rPr lang="en-US" sz="1600" b="1" kern="0" spc="400" dirty="0">
                <a:solidFill>
                  <a:srgbClr val="FF6B35"/>
                </a:solidFill>
                <a:latin typeface="Calibri" pitchFamily="34" charset="0"/>
                <a:ea typeface="Calibri" pitchFamily="34" charset="-122"/>
                <a:cs typeface="Calibri" pitchFamily="34" charset="-120"/>
              </a:rPr>
              <a:t>A JAVA PROJECT</a:t>
            </a:r>
            <a:endParaRPr lang="en-US" sz="1600" dirty="0"/>
          </a:p>
        </p:txBody>
      </p:sp>
      <p:sp>
        <p:nvSpPr>
          <p:cNvPr id="5" name="Text 2"/>
          <p:cNvSpPr txBox="1"/>
          <p:nvPr/>
        </p:nvSpPr>
        <p:spPr>
          <a:xfrm>
            <a:off x="548640" y="1325880"/>
            <a:ext cx="5943600" cy="164592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Personal Fitness and Workout Tracker</a:t>
            </a:r>
            <a:endParaRPr lang="en-US" sz="4400" dirty="0"/>
          </a:p>
        </p:txBody>
      </p:sp>
      <p:sp>
        <p:nvSpPr>
          <p:cNvPr id="6" name="Text 3"/>
          <p:cNvSpPr txBox="1"/>
          <p:nvPr/>
        </p:nvSpPr>
        <p:spPr>
          <a:xfrm>
            <a:off x="548640" y="3474720"/>
            <a:ext cx="8046720" cy="1005840"/>
          </a:xfrm>
          <a:prstGeom prst="rect">
            <a:avLst/>
          </a:prstGeom>
          <a:noFill/>
          <a:ln/>
        </p:spPr>
        <p:txBody>
          <a:bodyPr wrap="square" lIns="0" tIns="0" rIns="0" bIns="0" rtlCol="0" anchor="ctr"/>
          <a:lstStyle/>
          <a:p>
            <a:pPr marL="0" indent="0">
              <a:buNone/>
            </a:pPr>
            <a:r>
              <a:rPr lang="en-US" sz="1600" dirty="0">
                <a:solidFill>
                  <a:srgbClr val="9AA5B1"/>
                </a:solidFill>
                <a:latin typeface="Calibri" pitchFamily="34" charset="0"/>
                <a:ea typeface="Calibri" pitchFamily="34" charset="-122"/>
                <a:cs typeface="Calibri" pitchFamily="34" charset="-120"/>
              </a:rPr>
              <a:t>Presented by</a:t>
            </a:r>
            <a:endParaRPr lang="en-US" sz="1600" dirty="0"/>
          </a:p>
          <a:p>
            <a:pPr marL="0" indent="0">
              <a:buNone/>
            </a:pPr>
            <a:r>
              <a:rPr lang="en-US" sz="2600" b="1" dirty="0">
                <a:solidFill>
                  <a:srgbClr val="FFFFFF"/>
                </a:solidFill>
                <a:latin typeface="Calibri" pitchFamily="34" charset="0"/>
                <a:ea typeface="Calibri" pitchFamily="34" charset="-122"/>
                <a:cs typeface="Calibri" pitchFamily="34" charset="-120"/>
              </a:rPr>
              <a:t>Phanikumar, Madhan and Raghuvansh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4000" b="1" dirty="0">
                <a:solidFill>
                  <a:srgbClr val="1F2933"/>
                </a:solidFill>
                <a:latin typeface="Cambria" pitchFamily="34" charset="0"/>
                <a:ea typeface="Cambria" pitchFamily="34" charset="-122"/>
                <a:cs typeface="Cambria" pitchFamily="34" charset="-120"/>
              </a:rPr>
              <a:t>Abstract</a:t>
            </a:r>
            <a:endParaRPr lang="en-US" sz="4000" dirty="0"/>
          </a:p>
        </p:txBody>
      </p:sp>
      <p:sp>
        <p:nvSpPr>
          <p:cNvPr id="3" name="Text 1"/>
          <p:cNvSpPr txBox="1"/>
          <p:nvPr/>
        </p:nvSpPr>
        <p:spPr>
          <a:xfrm>
            <a:off x="548640" y="1188720"/>
            <a:ext cx="4937760" cy="3474720"/>
          </a:xfrm>
          <a:prstGeom prst="rect">
            <a:avLst/>
          </a:prstGeom>
          <a:noFill/>
          <a:ln/>
        </p:spPr>
        <p:txBody>
          <a:bodyPr wrap="square" lIns="0" tIns="0" rIns="0" bIns="0" rtlCol="0" anchor="t"/>
          <a:lstStyle/>
          <a:p>
            <a:pPr marL="0" indent="0">
              <a:spcAft>
                <a:spcPts val="600"/>
              </a:spcAft>
              <a:buNone/>
            </a:pPr>
            <a:r>
              <a:rPr lang="en-US" sz="1900" dirty="0">
                <a:solidFill>
                  <a:srgbClr val="1F2933"/>
                </a:solidFill>
                <a:latin typeface="Calibri" pitchFamily="34" charset="0"/>
                <a:ea typeface="Calibri" pitchFamily="34" charset="-122"/>
                <a:cs typeface="Calibri" pitchFamily="34" charset="-120"/>
              </a:rPr>
              <a:t>The Personal Fitness and Workout Tracker is a Java application that helps users record daily workouts, track calories burned, and monitor body metrics such as weight and BMI. Built with core Java constructs, the system stores every session and turns it into simple progress summaries, so users can see how consistent they are and stay motivated toward their fitness goals.</a:t>
            </a:r>
            <a:endParaRPr lang="en-US" sz="1900" dirty="0"/>
          </a:p>
        </p:txBody>
      </p:sp>
      <p:sp>
        <p:nvSpPr>
          <p:cNvPr id="4" name="Shape 2"/>
          <p:cNvSpPr/>
          <p:nvPr/>
        </p:nvSpPr>
        <p:spPr>
          <a:xfrm>
            <a:off x="5760720" y="1188720"/>
            <a:ext cx="2926080" cy="868680"/>
          </a:xfrm>
          <a:prstGeom prst="roundRect">
            <a:avLst>
              <a:gd name="adj" fmla="val 10526"/>
            </a:avLst>
          </a:prstGeom>
          <a:solidFill>
            <a:srgbClr val="FFFFFF"/>
          </a:solidFill>
          <a:ln w="9525">
            <a:solidFill>
              <a:srgbClr val="E4E7EB"/>
            </a:solidFill>
            <a:prstDash val="solid"/>
          </a:ln>
          <a:effectLst>
            <a:outerShdw blurRad="76200" dist="25400" dir="5400000" algn="bl" rotWithShape="0">
              <a:srgbClr val="000000">
                <a:alpha val="10000"/>
              </a:srgbClr>
            </a:outerShdw>
          </a:effectLst>
        </p:spPr>
      </p:sp>
      <p:sp>
        <p:nvSpPr>
          <p:cNvPr id="5" name="Shape 3"/>
          <p:cNvSpPr/>
          <p:nvPr/>
        </p:nvSpPr>
        <p:spPr>
          <a:xfrm>
            <a:off x="5943600" y="1325880"/>
            <a:ext cx="594360" cy="594360"/>
          </a:xfrm>
          <a:prstGeom prst="ellipse">
            <a:avLst/>
          </a:prstGeom>
          <a:solidFill>
            <a:srgbClr val="FF6B35"/>
          </a:solidFill>
          <a:ln w="12700">
            <a:solidFill>
              <a:srgbClr val="FF6B35"/>
            </a:solidFill>
            <a:prstDash val="solid"/>
          </a:ln>
        </p:spPr>
      </p:sp>
      <p:pic>
        <p:nvPicPr>
          <p:cNvPr id="6" name="Image 0" descr="preencoded.png"/>
          <p:cNvPicPr>
            <a:picLocks noChangeAspect="1"/>
          </p:cNvPicPr>
          <p:nvPr/>
        </p:nvPicPr>
        <p:blipFill>
          <a:blip r:embed="rId3"/>
          <a:stretch>
            <a:fillRect/>
          </a:stretch>
        </p:blipFill>
        <p:spPr>
          <a:xfrm>
            <a:off x="6110021" y="1492301"/>
            <a:ext cx="261518" cy="261518"/>
          </a:xfrm>
          <a:prstGeom prst="rect">
            <a:avLst/>
          </a:prstGeom>
        </p:spPr>
      </p:pic>
      <p:sp>
        <p:nvSpPr>
          <p:cNvPr id="7" name="Text 4"/>
          <p:cNvSpPr txBox="1"/>
          <p:nvPr/>
        </p:nvSpPr>
        <p:spPr>
          <a:xfrm>
            <a:off x="6675120" y="1188720"/>
            <a:ext cx="1965960" cy="868680"/>
          </a:xfrm>
          <a:prstGeom prst="rect">
            <a:avLst/>
          </a:prstGeom>
          <a:noFill/>
          <a:ln/>
        </p:spPr>
        <p:txBody>
          <a:bodyPr wrap="square" lIns="0" tIns="0" rIns="0" bIns="0" rtlCol="0" anchor="ctr"/>
          <a:lstStyle/>
          <a:p>
            <a:pPr marL="0" indent="0">
              <a:buNone/>
            </a:pPr>
            <a:r>
              <a:rPr lang="en-US" sz="2000" b="1" dirty="0">
                <a:solidFill>
                  <a:srgbClr val="1F2933"/>
                </a:solidFill>
                <a:latin typeface="Calibri" pitchFamily="34" charset="0"/>
                <a:ea typeface="Calibri" pitchFamily="34" charset="-122"/>
                <a:cs typeface="Calibri" pitchFamily="34" charset="-120"/>
              </a:rPr>
              <a:t>Log workouts</a:t>
            </a:r>
            <a:endParaRPr lang="en-US" sz="2000" dirty="0"/>
          </a:p>
        </p:txBody>
      </p:sp>
      <p:sp>
        <p:nvSpPr>
          <p:cNvPr id="8" name="Shape 5"/>
          <p:cNvSpPr/>
          <p:nvPr/>
        </p:nvSpPr>
        <p:spPr>
          <a:xfrm>
            <a:off x="5760720" y="2240280"/>
            <a:ext cx="2926080" cy="868680"/>
          </a:xfrm>
          <a:prstGeom prst="roundRect">
            <a:avLst>
              <a:gd name="adj" fmla="val 10526"/>
            </a:avLst>
          </a:prstGeom>
          <a:solidFill>
            <a:srgbClr val="FFFFFF"/>
          </a:solidFill>
          <a:ln w="9525">
            <a:solidFill>
              <a:srgbClr val="E4E7EB"/>
            </a:solidFill>
            <a:prstDash val="solid"/>
          </a:ln>
          <a:effectLst>
            <a:outerShdw blurRad="76200" dist="25400" dir="5400000" algn="bl" rotWithShape="0">
              <a:srgbClr val="000000">
                <a:alpha val="10000"/>
              </a:srgbClr>
            </a:outerShdw>
          </a:effectLst>
        </p:spPr>
      </p:sp>
      <p:sp>
        <p:nvSpPr>
          <p:cNvPr id="9" name="Shape 6"/>
          <p:cNvSpPr/>
          <p:nvPr/>
        </p:nvSpPr>
        <p:spPr>
          <a:xfrm>
            <a:off x="5943600" y="2377440"/>
            <a:ext cx="594360" cy="594360"/>
          </a:xfrm>
          <a:prstGeom prst="ellipse">
            <a:avLst/>
          </a:prstGeom>
          <a:solidFill>
            <a:srgbClr val="1FAB89"/>
          </a:solidFill>
          <a:ln w="12700">
            <a:solidFill>
              <a:srgbClr val="1FAB89"/>
            </a:solidFill>
            <a:prstDash val="solid"/>
          </a:ln>
        </p:spPr>
      </p:sp>
      <p:pic>
        <p:nvPicPr>
          <p:cNvPr id="10" name="Image 1" descr="preencoded.png"/>
          <p:cNvPicPr>
            <a:picLocks noChangeAspect="1"/>
          </p:cNvPicPr>
          <p:nvPr/>
        </p:nvPicPr>
        <p:blipFill>
          <a:blip r:embed="rId4"/>
          <a:stretch>
            <a:fillRect/>
          </a:stretch>
        </p:blipFill>
        <p:spPr>
          <a:xfrm>
            <a:off x="6110021" y="2543861"/>
            <a:ext cx="261518" cy="261518"/>
          </a:xfrm>
          <a:prstGeom prst="rect">
            <a:avLst/>
          </a:prstGeom>
        </p:spPr>
      </p:pic>
      <p:sp>
        <p:nvSpPr>
          <p:cNvPr id="11" name="Text 7"/>
          <p:cNvSpPr txBox="1"/>
          <p:nvPr/>
        </p:nvSpPr>
        <p:spPr>
          <a:xfrm>
            <a:off x="6675120" y="2240280"/>
            <a:ext cx="1965960" cy="868680"/>
          </a:xfrm>
          <a:prstGeom prst="rect">
            <a:avLst/>
          </a:prstGeom>
          <a:noFill/>
          <a:ln/>
        </p:spPr>
        <p:txBody>
          <a:bodyPr wrap="square" lIns="0" tIns="0" rIns="0" bIns="0" rtlCol="0" anchor="ctr"/>
          <a:lstStyle/>
          <a:p>
            <a:pPr marL="0" indent="0">
              <a:buNone/>
            </a:pPr>
            <a:r>
              <a:rPr lang="en-US" sz="2000" b="1" dirty="0">
                <a:solidFill>
                  <a:srgbClr val="1F2933"/>
                </a:solidFill>
                <a:latin typeface="Calibri" pitchFamily="34" charset="0"/>
                <a:ea typeface="Calibri" pitchFamily="34" charset="-122"/>
                <a:cs typeface="Calibri" pitchFamily="34" charset="-120"/>
              </a:rPr>
              <a:t>Track calories</a:t>
            </a:r>
            <a:endParaRPr lang="en-US" sz="2000" dirty="0"/>
          </a:p>
        </p:txBody>
      </p:sp>
      <p:sp>
        <p:nvSpPr>
          <p:cNvPr id="12" name="Shape 8"/>
          <p:cNvSpPr/>
          <p:nvPr/>
        </p:nvSpPr>
        <p:spPr>
          <a:xfrm>
            <a:off x="5760720" y="3291840"/>
            <a:ext cx="2926080" cy="868680"/>
          </a:xfrm>
          <a:prstGeom prst="roundRect">
            <a:avLst>
              <a:gd name="adj" fmla="val 10526"/>
            </a:avLst>
          </a:prstGeom>
          <a:solidFill>
            <a:srgbClr val="FFFFFF"/>
          </a:solidFill>
          <a:ln w="9525">
            <a:solidFill>
              <a:srgbClr val="E4E7EB"/>
            </a:solidFill>
            <a:prstDash val="solid"/>
          </a:ln>
          <a:effectLst>
            <a:outerShdw blurRad="76200" dist="25400" dir="5400000" algn="bl" rotWithShape="0">
              <a:srgbClr val="000000">
                <a:alpha val="10000"/>
              </a:srgbClr>
            </a:outerShdw>
          </a:effectLst>
        </p:spPr>
      </p:sp>
      <p:sp>
        <p:nvSpPr>
          <p:cNvPr id="13" name="Shape 9"/>
          <p:cNvSpPr/>
          <p:nvPr/>
        </p:nvSpPr>
        <p:spPr>
          <a:xfrm>
            <a:off x="5943600" y="3429000"/>
            <a:ext cx="594360" cy="594360"/>
          </a:xfrm>
          <a:prstGeom prst="ellipse">
            <a:avLst/>
          </a:prstGeom>
          <a:solidFill>
            <a:srgbClr val="FF6B35"/>
          </a:solidFill>
          <a:ln w="12700">
            <a:solidFill>
              <a:srgbClr val="FF6B35"/>
            </a:solidFill>
            <a:prstDash val="solid"/>
          </a:ln>
        </p:spPr>
      </p:sp>
      <p:pic>
        <p:nvPicPr>
          <p:cNvPr id="14" name="Image 2" descr="preencoded.png"/>
          <p:cNvPicPr>
            <a:picLocks noChangeAspect="1"/>
          </p:cNvPicPr>
          <p:nvPr/>
        </p:nvPicPr>
        <p:blipFill>
          <a:blip r:embed="rId5"/>
          <a:stretch>
            <a:fillRect/>
          </a:stretch>
        </p:blipFill>
        <p:spPr>
          <a:xfrm>
            <a:off x="6110021" y="3595421"/>
            <a:ext cx="261518" cy="261518"/>
          </a:xfrm>
          <a:prstGeom prst="rect">
            <a:avLst/>
          </a:prstGeom>
        </p:spPr>
      </p:pic>
      <p:sp>
        <p:nvSpPr>
          <p:cNvPr id="15" name="Text 10"/>
          <p:cNvSpPr txBox="1"/>
          <p:nvPr/>
        </p:nvSpPr>
        <p:spPr>
          <a:xfrm>
            <a:off x="6675120" y="3291840"/>
            <a:ext cx="1965960" cy="868680"/>
          </a:xfrm>
          <a:prstGeom prst="rect">
            <a:avLst/>
          </a:prstGeom>
          <a:noFill/>
          <a:ln/>
        </p:spPr>
        <p:txBody>
          <a:bodyPr wrap="square" lIns="0" tIns="0" rIns="0" bIns="0" rtlCol="0" anchor="ctr"/>
          <a:lstStyle/>
          <a:p>
            <a:pPr marL="0" indent="0">
              <a:buNone/>
            </a:pPr>
            <a:r>
              <a:rPr lang="en-US" sz="2000" b="1" dirty="0">
                <a:solidFill>
                  <a:srgbClr val="1F2933"/>
                </a:solidFill>
                <a:latin typeface="Calibri" pitchFamily="34" charset="0"/>
                <a:ea typeface="Calibri" pitchFamily="34" charset="-122"/>
                <a:cs typeface="Calibri" pitchFamily="34" charset="-120"/>
              </a:rPr>
              <a:t>View progress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4000" b="1" dirty="0">
                <a:solidFill>
                  <a:srgbClr val="1F2933"/>
                </a:solidFill>
                <a:latin typeface="Cambria" pitchFamily="34" charset="0"/>
                <a:ea typeface="Cambria" pitchFamily="34" charset="-122"/>
                <a:cs typeface="Cambria" pitchFamily="34" charset="-120"/>
              </a:rPr>
              <a:t>Introduction</a:t>
            </a:r>
            <a:endParaRPr lang="en-US" sz="4000" dirty="0"/>
          </a:p>
        </p:txBody>
      </p:sp>
      <p:sp>
        <p:nvSpPr>
          <p:cNvPr id="3" name="Text 1"/>
          <p:cNvSpPr txBox="1"/>
          <p:nvPr/>
        </p:nvSpPr>
        <p:spPr>
          <a:xfrm>
            <a:off x="548640" y="1188720"/>
            <a:ext cx="4663440" cy="3566160"/>
          </a:xfrm>
          <a:prstGeom prst="rect">
            <a:avLst/>
          </a:prstGeom>
          <a:noFill/>
          <a:ln/>
        </p:spPr>
        <p:txBody>
          <a:bodyPr wrap="square" lIns="0" tIns="0" rIns="0" bIns="0" rtlCol="0" anchor="t"/>
          <a:lstStyle/>
          <a:p>
            <a:pPr marL="0" indent="0">
              <a:spcAft>
                <a:spcPts val="1000"/>
              </a:spcAft>
              <a:buNone/>
            </a:pPr>
            <a:r>
              <a:rPr lang="en-US" sz="1700" dirty="0">
                <a:solidFill>
                  <a:srgbClr val="1F2933"/>
                </a:solidFill>
                <a:latin typeface="Calibri" pitchFamily="34" charset="0"/>
                <a:ea typeface="Calibri" pitchFamily="34" charset="-122"/>
                <a:cs typeface="Calibri" pitchFamily="34" charset="-120"/>
              </a:rPr>
              <a:t>Staying fit takes consistency, and consistency is hard to keep without a clear record of what you have done.</a:t>
            </a:r>
            <a:endParaRPr lang="en-US" sz="1700" dirty="0"/>
          </a:p>
          <a:p>
            <a:pPr marL="0" indent="0">
              <a:spcAft>
                <a:spcPts val="1000"/>
              </a:spcAft>
              <a:buNone/>
            </a:pPr>
            <a:r>
              <a:rPr lang="en-US" sz="1700" dirty="0">
                <a:solidFill>
                  <a:srgbClr val="1F2933"/>
                </a:solidFill>
                <a:latin typeface="Calibri" pitchFamily="34" charset="0"/>
                <a:ea typeface="Calibri" pitchFamily="34" charset="-122"/>
                <a:cs typeface="Calibri" pitchFamily="34" charset="-120"/>
              </a:rPr>
              <a:t>This project provides a simple Java-based tool where a user can create a profile, log exercises with duration and calories, and review past sessions at any time.</a:t>
            </a:r>
            <a:endParaRPr lang="en-US" sz="1700" dirty="0"/>
          </a:p>
          <a:p>
            <a:pPr marL="0" indent="0">
              <a:spcAft>
                <a:spcPts val="1000"/>
              </a:spcAft>
              <a:buNone/>
            </a:pPr>
            <a:r>
              <a:rPr lang="en-US" sz="1700" dirty="0">
                <a:solidFill>
                  <a:srgbClr val="1F2933"/>
                </a:solidFill>
                <a:latin typeface="Calibri" pitchFamily="34" charset="0"/>
                <a:ea typeface="Calibri" pitchFamily="34" charset="-122"/>
                <a:cs typeface="Calibri" pitchFamily="34" charset="-120"/>
              </a:rPr>
              <a:t>It applies core Java concepts such as variables, operators, control statements, methods, recursion and arrays.</a:t>
            </a:r>
            <a:endParaRPr lang="en-US" sz="1700" dirty="0"/>
          </a:p>
        </p:txBody>
      </p:sp>
      <p:sp>
        <p:nvSpPr>
          <p:cNvPr id="4" name="Shape 2"/>
          <p:cNvSpPr/>
          <p:nvPr/>
        </p:nvSpPr>
        <p:spPr>
          <a:xfrm>
            <a:off x="5486400" y="1188720"/>
            <a:ext cx="731520" cy="731520"/>
          </a:xfrm>
          <a:prstGeom prst="ellipse">
            <a:avLst/>
          </a:prstGeom>
          <a:solidFill>
            <a:srgbClr val="FF6B35"/>
          </a:solidFill>
          <a:ln w="12700">
            <a:solidFill>
              <a:srgbClr val="FF6B35"/>
            </a:solidFill>
            <a:prstDash val="solid"/>
          </a:ln>
        </p:spPr>
      </p:sp>
      <p:pic>
        <p:nvPicPr>
          <p:cNvPr id="5" name="Image 0" descr="preencoded.png"/>
          <p:cNvPicPr>
            <a:picLocks noChangeAspect="1"/>
          </p:cNvPicPr>
          <p:nvPr/>
        </p:nvPicPr>
        <p:blipFill>
          <a:blip r:embed="rId3"/>
          <a:stretch>
            <a:fillRect/>
          </a:stretch>
        </p:blipFill>
        <p:spPr>
          <a:xfrm>
            <a:off x="5691226" y="1393546"/>
            <a:ext cx="321869" cy="321869"/>
          </a:xfrm>
          <a:prstGeom prst="rect">
            <a:avLst/>
          </a:prstGeom>
        </p:spPr>
      </p:pic>
      <p:sp>
        <p:nvSpPr>
          <p:cNvPr id="6" name="Text 3"/>
          <p:cNvSpPr txBox="1"/>
          <p:nvPr/>
        </p:nvSpPr>
        <p:spPr>
          <a:xfrm>
            <a:off x="6355080" y="1188720"/>
            <a:ext cx="2377440" cy="731520"/>
          </a:xfrm>
          <a:prstGeom prst="rect">
            <a:avLst/>
          </a:prstGeom>
          <a:noFill/>
          <a:ln/>
        </p:spPr>
        <p:txBody>
          <a:bodyPr wrap="square" lIns="0" tIns="0" rIns="0" bIns="0" rtlCol="0" anchor="ctr"/>
          <a:lstStyle/>
          <a:p>
            <a:pPr marL="0" indent="0">
              <a:buNone/>
            </a:pPr>
            <a:r>
              <a:rPr lang="en-US" sz="2000" b="1" dirty="0">
                <a:solidFill>
                  <a:srgbClr val="1F2933"/>
                </a:solidFill>
                <a:latin typeface="Calibri" pitchFamily="34" charset="0"/>
                <a:ea typeface="Calibri" pitchFamily="34" charset="-122"/>
                <a:cs typeface="Calibri" pitchFamily="34" charset="-120"/>
              </a:rPr>
              <a:t>User profile</a:t>
            </a:r>
            <a:endParaRPr lang="en-US" sz="2000" dirty="0"/>
          </a:p>
          <a:p>
            <a:pPr marL="0" indent="0">
              <a:buNone/>
            </a:pPr>
            <a:r>
              <a:rPr lang="en-US" sz="1500" dirty="0">
                <a:solidFill>
                  <a:srgbClr val="5B6770"/>
                </a:solidFill>
                <a:latin typeface="Calibri" pitchFamily="34" charset="0"/>
                <a:ea typeface="Calibri" pitchFamily="34" charset="-122"/>
                <a:cs typeface="Calibri" pitchFamily="34" charset="-120"/>
              </a:rPr>
              <a:t>Name, age, weight, goal</a:t>
            </a:r>
            <a:endParaRPr lang="en-US" sz="2000" dirty="0"/>
          </a:p>
        </p:txBody>
      </p:sp>
      <p:sp>
        <p:nvSpPr>
          <p:cNvPr id="7" name="Shape 4"/>
          <p:cNvSpPr/>
          <p:nvPr/>
        </p:nvSpPr>
        <p:spPr>
          <a:xfrm>
            <a:off x="5486400" y="2286000"/>
            <a:ext cx="731520" cy="731520"/>
          </a:xfrm>
          <a:prstGeom prst="ellipse">
            <a:avLst/>
          </a:prstGeom>
          <a:solidFill>
            <a:srgbClr val="1FAB89"/>
          </a:solidFill>
          <a:ln w="12700">
            <a:solidFill>
              <a:srgbClr val="1FAB89"/>
            </a:solidFill>
            <a:prstDash val="solid"/>
          </a:ln>
        </p:spPr>
      </p:sp>
      <p:pic>
        <p:nvPicPr>
          <p:cNvPr id="8" name="Image 1" descr="preencoded.png"/>
          <p:cNvPicPr>
            <a:picLocks noChangeAspect="1"/>
          </p:cNvPicPr>
          <p:nvPr/>
        </p:nvPicPr>
        <p:blipFill>
          <a:blip r:embed="rId4"/>
          <a:stretch>
            <a:fillRect/>
          </a:stretch>
        </p:blipFill>
        <p:spPr>
          <a:xfrm>
            <a:off x="5691226" y="2490826"/>
            <a:ext cx="321869" cy="321869"/>
          </a:xfrm>
          <a:prstGeom prst="rect">
            <a:avLst/>
          </a:prstGeom>
        </p:spPr>
      </p:pic>
      <p:sp>
        <p:nvSpPr>
          <p:cNvPr id="9" name="Text 5"/>
          <p:cNvSpPr txBox="1"/>
          <p:nvPr/>
        </p:nvSpPr>
        <p:spPr>
          <a:xfrm>
            <a:off x="6355080" y="2286000"/>
            <a:ext cx="2377440" cy="731520"/>
          </a:xfrm>
          <a:prstGeom prst="rect">
            <a:avLst/>
          </a:prstGeom>
          <a:noFill/>
          <a:ln/>
        </p:spPr>
        <p:txBody>
          <a:bodyPr wrap="square" lIns="0" tIns="0" rIns="0" bIns="0" rtlCol="0" anchor="ctr"/>
          <a:lstStyle/>
          <a:p>
            <a:pPr marL="0" indent="0">
              <a:buNone/>
            </a:pPr>
            <a:r>
              <a:rPr lang="en-US" sz="2000" b="1" dirty="0">
                <a:solidFill>
                  <a:srgbClr val="1F2933"/>
                </a:solidFill>
                <a:latin typeface="Calibri" pitchFamily="34" charset="0"/>
                <a:ea typeface="Calibri" pitchFamily="34" charset="-122"/>
                <a:cs typeface="Calibri" pitchFamily="34" charset="-120"/>
              </a:rPr>
              <a:t>Workout logging</a:t>
            </a:r>
            <a:endParaRPr lang="en-US" sz="2000" dirty="0"/>
          </a:p>
          <a:p>
            <a:pPr marL="0" indent="0">
              <a:buNone/>
            </a:pPr>
            <a:r>
              <a:rPr lang="en-US" sz="1500" dirty="0">
                <a:solidFill>
                  <a:srgbClr val="5B6770"/>
                </a:solidFill>
                <a:latin typeface="Calibri" pitchFamily="34" charset="0"/>
                <a:ea typeface="Calibri" pitchFamily="34" charset="-122"/>
                <a:cs typeface="Calibri" pitchFamily="34" charset="-120"/>
              </a:rPr>
              <a:t>Exercise, time, calories</a:t>
            </a:r>
            <a:endParaRPr lang="en-US" sz="2000" dirty="0"/>
          </a:p>
        </p:txBody>
      </p:sp>
      <p:sp>
        <p:nvSpPr>
          <p:cNvPr id="10" name="Shape 6"/>
          <p:cNvSpPr/>
          <p:nvPr/>
        </p:nvSpPr>
        <p:spPr>
          <a:xfrm>
            <a:off x="5486400" y="3383280"/>
            <a:ext cx="731520" cy="731520"/>
          </a:xfrm>
          <a:prstGeom prst="ellipse">
            <a:avLst/>
          </a:prstGeom>
          <a:solidFill>
            <a:srgbClr val="FF6B35"/>
          </a:solidFill>
          <a:ln w="12700">
            <a:solidFill>
              <a:srgbClr val="FF6B35"/>
            </a:solidFill>
            <a:prstDash val="solid"/>
          </a:ln>
        </p:spPr>
      </p:sp>
      <p:pic>
        <p:nvPicPr>
          <p:cNvPr id="11" name="Image 2" descr="preencoded.png"/>
          <p:cNvPicPr>
            <a:picLocks noChangeAspect="1"/>
          </p:cNvPicPr>
          <p:nvPr/>
        </p:nvPicPr>
        <p:blipFill>
          <a:blip r:embed="rId5"/>
          <a:stretch>
            <a:fillRect/>
          </a:stretch>
        </p:blipFill>
        <p:spPr>
          <a:xfrm>
            <a:off x="5691226" y="3588106"/>
            <a:ext cx="321869" cy="321869"/>
          </a:xfrm>
          <a:prstGeom prst="rect">
            <a:avLst/>
          </a:prstGeom>
        </p:spPr>
      </p:pic>
      <p:sp>
        <p:nvSpPr>
          <p:cNvPr id="12" name="Text 7"/>
          <p:cNvSpPr txBox="1"/>
          <p:nvPr/>
        </p:nvSpPr>
        <p:spPr>
          <a:xfrm>
            <a:off x="6355080" y="3383280"/>
            <a:ext cx="2377440" cy="731520"/>
          </a:xfrm>
          <a:prstGeom prst="rect">
            <a:avLst/>
          </a:prstGeom>
          <a:noFill/>
          <a:ln/>
        </p:spPr>
        <p:txBody>
          <a:bodyPr wrap="square" lIns="0" tIns="0" rIns="0" bIns="0" rtlCol="0" anchor="ctr"/>
          <a:lstStyle/>
          <a:p>
            <a:pPr marL="0" indent="0">
              <a:buNone/>
            </a:pPr>
            <a:r>
              <a:rPr lang="en-US" sz="2000" b="1" dirty="0">
                <a:solidFill>
                  <a:srgbClr val="1F2933"/>
                </a:solidFill>
                <a:latin typeface="Calibri" pitchFamily="34" charset="0"/>
                <a:ea typeface="Calibri" pitchFamily="34" charset="-122"/>
                <a:cs typeface="Calibri" pitchFamily="34" charset="-120"/>
              </a:rPr>
              <a:t>Progress review</a:t>
            </a:r>
            <a:endParaRPr lang="en-US" sz="2000" dirty="0"/>
          </a:p>
          <a:p>
            <a:pPr marL="0" indent="0">
              <a:buNone/>
            </a:pPr>
            <a:r>
              <a:rPr lang="en-US" sz="1500" dirty="0">
                <a:solidFill>
                  <a:srgbClr val="5B6770"/>
                </a:solidFill>
                <a:latin typeface="Calibri" pitchFamily="34" charset="0"/>
                <a:ea typeface="Calibri" pitchFamily="34" charset="-122"/>
                <a:cs typeface="Calibri" pitchFamily="34" charset="-120"/>
              </a:rPr>
              <a:t>History and summaries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4000" b="1" dirty="0">
                <a:solidFill>
                  <a:srgbClr val="1F2933"/>
                </a:solidFill>
                <a:latin typeface="Cambria" pitchFamily="34" charset="0"/>
                <a:ea typeface="Cambria" pitchFamily="34" charset="-122"/>
                <a:cs typeface="Cambria" pitchFamily="34" charset="-120"/>
              </a:rPr>
              <a:t>Existing System</a:t>
            </a:r>
            <a:endParaRPr lang="en-US" sz="4000" dirty="0"/>
          </a:p>
        </p:txBody>
      </p:sp>
      <p:sp>
        <p:nvSpPr>
          <p:cNvPr id="3" name="Shape 1"/>
          <p:cNvSpPr/>
          <p:nvPr/>
        </p:nvSpPr>
        <p:spPr>
          <a:xfrm>
            <a:off x="548640" y="1234440"/>
            <a:ext cx="2560320" cy="3291840"/>
          </a:xfrm>
          <a:prstGeom prst="roundRect">
            <a:avLst>
              <a:gd name="adj" fmla="val 4286"/>
            </a:avLst>
          </a:prstGeom>
          <a:solidFill>
            <a:srgbClr val="FFFFFF"/>
          </a:solidFill>
          <a:ln w="9525">
            <a:solidFill>
              <a:srgbClr val="E4E7EB"/>
            </a:solidFill>
            <a:prstDash val="solid"/>
          </a:ln>
          <a:effectLst>
            <a:outerShdw blurRad="101600" dist="25400" dir="5400000" algn="bl" rotWithShape="0">
              <a:srgbClr val="000000">
                <a:alpha val="10000"/>
              </a:srgbClr>
            </a:outerShdw>
          </a:effectLst>
        </p:spPr>
      </p:sp>
      <p:sp>
        <p:nvSpPr>
          <p:cNvPr id="4" name="Shape 2"/>
          <p:cNvSpPr/>
          <p:nvPr/>
        </p:nvSpPr>
        <p:spPr>
          <a:xfrm>
            <a:off x="777240" y="1508760"/>
            <a:ext cx="731520" cy="731520"/>
          </a:xfrm>
          <a:prstGeom prst="ellipse">
            <a:avLst/>
          </a:prstGeom>
          <a:solidFill>
            <a:srgbClr val="C0392B"/>
          </a:solidFill>
          <a:ln w="12700">
            <a:solidFill>
              <a:srgbClr val="C0392B"/>
            </a:solidFill>
            <a:prstDash val="solid"/>
          </a:ln>
        </p:spPr>
      </p:sp>
      <p:pic>
        <p:nvPicPr>
          <p:cNvPr id="5" name="Image 0" descr="preencoded.png"/>
          <p:cNvPicPr>
            <a:picLocks noChangeAspect="1"/>
          </p:cNvPicPr>
          <p:nvPr/>
        </p:nvPicPr>
        <p:blipFill>
          <a:blip r:embed="rId3"/>
          <a:stretch>
            <a:fillRect/>
          </a:stretch>
        </p:blipFill>
        <p:spPr>
          <a:xfrm>
            <a:off x="982066" y="1713586"/>
            <a:ext cx="321869" cy="321869"/>
          </a:xfrm>
          <a:prstGeom prst="rect">
            <a:avLst/>
          </a:prstGeom>
        </p:spPr>
      </p:pic>
      <p:sp>
        <p:nvSpPr>
          <p:cNvPr id="6" name="Text 3"/>
          <p:cNvSpPr txBox="1"/>
          <p:nvPr/>
        </p:nvSpPr>
        <p:spPr>
          <a:xfrm>
            <a:off x="731520" y="2423160"/>
            <a:ext cx="2286000" cy="411480"/>
          </a:xfrm>
          <a:prstGeom prst="rect">
            <a:avLst/>
          </a:prstGeom>
          <a:noFill/>
          <a:ln/>
        </p:spPr>
        <p:txBody>
          <a:bodyPr wrap="square" lIns="0" tIns="0" rIns="0" bIns="0" rtlCol="0" anchor="ctr"/>
          <a:lstStyle/>
          <a:p>
            <a:pPr marL="0" indent="0">
              <a:buNone/>
            </a:pPr>
            <a:r>
              <a:rPr lang="en-US" sz="2000" b="1" dirty="0">
                <a:solidFill>
                  <a:srgbClr val="1F2933"/>
                </a:solidFill>
                <a:latin typeface="Cambria" pitchFamily="34" charset="0"/>
                <a:ea typeface="Cambria" pitchFamily="34" charset="-122"/>
                <a:cs typeface="Cambria" pitchFamily="34" charset="-120"/>
              </a:rPr>
              <a:t>Manual logging</a:t>
            </a:r>
            <a:endParaRPr lang="en-US" sz="2000" dirty="0"/>
          </a:p>
        </p:txBody>
      </p:sp>
      <p:sp>
        <p:nvSpPr>
          <p:cNvPr id="7" name="Text 4"/>
          <p:cNvSpPr txBox="1"/>
          <p:nvPr/>
        </p:nvSpPr>
        <p:spPr>
          <a:xfrm>
            <a:off x="731520" y="2880360"/>
            <a:ext cx="2240280" cy="1554480"/>
          </a:xfrm>
          <a:prstGeom prst="rect">
            <a:avLst/>
          </a:prstGeom>
          <a:noFill/>
          <a:ln/>
        </p:spPr>
        <p:txBody>
          <a:bodyPr wrap="square" lIns="0" tIns="0" rIns="0" bIns="0" rtlCol="0" anchor="t"/>
          <a:lstStyle/>
          <a:p>
            <a:pPr marL="0" indent="0">
              <a:buNone/>
            </a:pPr>
            <a:r>
              <a:rPr lang="en-US" sz="1500" dirty="0">
                <a:solidFill>
                  <a:srgbClr val="5B6770"/>
                </a:solidFill>
                <a:latin typeface="Calibri" pitchFamily="34" charset="0"/>
                <a:ea typeface="Calibri" pitchFamily="34" charset="-122"/>
                <a:cs typeface="Calibri" pitchFamily="34" charset="-120"/>
              </a:rPr>
              <a:t>Notebooks and spreadsheets are easy to forget, hard to search and give no summaries.</a:t>
            </a:r>
            <a:endParaRPr lang="en-US" sz="1500" dirty="0"/>
          </a:p>
        </p:txBody>
      </p:sp>
      <p:sp>
        <p:nvSpPr>
          <p:cNvPr id="8" name="Shape 5"/>
          <p:cNvSpPr/>
          <p:nvPr/>
        </p:nvSpPr>
        <p:spPr>
          <a:xfrm>
            <a:off x="3291840" y="1234440"/>
            <a:ext cx="2560320" cy="3291840"/>
          </a:xfrm>
          <a:prstGeom prst="roundRect">
            <a:avLst>
              <a:gd name="adj" fmla="val 4286"/>
            </a:avLst>
          </a:prstGeom>
          <a:solidFill>
            <a:srgbClr val="FFFFFF"/>
          </a:solidFill>
          <a:ln w="9525">
            <a:solidFill>
              <a:srgbClr val="E4E7EB"/>
            </a:solidFill>
            <a:prstDash val="solid"/>
          </a:ln>
          <a:effectLst>
            <a:outerShdw blurRad="101600" dist="25400" dir="5400000" algn="bl" rotWithShape="0">
              <a:srgbClr val="000000">
                <a:alpha val="10000"/>
              </a:srgbClr>
            </a:outerShdw>
          </a:effectLst>
        </p:spPr>
      </p:sp>
      <p:sp>
        <p:nvSpPr>
          <p:cNvPr id="9" name="Shape 6"/>
          <p:cNvSpPr/>
          <p:nvPr/>
        </p:nvSpPr>
        <p:spPr>
          <a:xfrm>
            <a:off x="3520440" y="1508760"/>
            <a:ext cx="731520" cy="731520"/>
          </a:xfrm>
          <a:prstGeom prst="ellipse">
            <a:avLst/>
          </a:prstGeom>
          <a:solidFill>
            <a:srgbClr val="C0392B"/>
          </a:solidFill>
          <a:ln w="12700">
            <a:solidFill>
              <a:srgbClr val="C0392B"/>
            </a:solidFill>
            <a:prstDash val="solid"/>
          </a:ln>
        </p:spPr>
      </p:sp>
      <p:pic>
        <p:nvPicPr>
          <p:cNvPr id="10" name="Image 1" descr="preencoded.png"/>
          <p:cNvPicPr>
            <a:picLocks noChangeAspect="1"/>
          </p:cNvPicPr>
          <p:nvPr/>
        </p:nvPicPr>
        <p:blipFill>
          <a:blip r:embed="rId4"/>
          <a:stretch>
            <a:fillRect/>
          </a:stretch>
        </p:blipFill>
        <p:spPr>
          <a:xfrm>
            <a:off x="3725266" y="1713586"/>
            <a:ext cx="321869" cy="321869"/>
          </a:xfrm>
          <a:prstGeom prst="rect">
            <a:avLst/>
          </a:prstGeom>
        </p:spPr>
      </p:pic>
      <p:sp>
        <p:nvSpPr>
          <p:cNvPr id="11" name="Text 7"/>
          <p:cNvSpPr txBox="1"/>
          <p:nvPr/>
        </p:nvSpPr>
        <p:spPr>
          <a:xfrm>
            <a:off x="3474720" y="2423160"/>
            <a:ext cx="2286000" cy="411480"/>
          </a:xfrm>
          <a:prstGeom prst="rect">
            <a:avLst/>
          </a:prstGeom>
          <a:noFill/>
          <a:ln/>
        </p:spPr>
        <p:txBody>
          <a:bodyPr wrap="square" lIns="0" tIns="0" rIns="0" bIns="0" rtlCol="0" anchor="ctr"/>
          <a:lstStyle/>
          <a:p>
            <a:pPr marL="0" indent="0">
              <a:buNone/>
            </a:pPr>
            <a:r>
              <a:rPr lang="en-US" sz="2000" b="1" dirty="0">
                <a:solidFill>
                  <a:srgbClr val="1F2933"/>
                </a:solidFill>
                <a:latin typeface="Cambria" pitchFamily="34" charset="0"/>
                <a:ea typeface="Cambria" pitchFamily="34" charset="-122"/>
                <a:cs typeface="Cambria" pitchFamily="34" charset="-120"/>
              </a:rPr>
              <a:t>Generic apps</a:t>
            </a:r>
            <a:endParaRPr lang="en-US" sz="2000" dirty="0"/>
          </a:p>
        </p:txBody>
      </p:sp>
      <p:sp>
        <p:nvSpPr>
          <p:cNvPr id="12" name="Text 8"/>
          <p:cNvSpPr txBox="1"/>
          <p:nvPr/>
        </p:nvSpPr>
        <p:spPr>
          <a:xfrm>
            <a:off x="3474720" y="2880360"/>
            <a:ext cx="2240280" cy="1554480"/>
          </a:xfrm>
          <a:prstGeom prst="rect">
            <a:avLst/>
          </a:prstGeom>
          <a:noFill/>
          <a:ln/>
        </p:spPr>
        <p:txBody>
          <a:bodyPr wrap="square" lIns="0" tIns="0" rIns="0" bIns="0" rtlCol="0" anchor="t"/>
          <a:lstStyle/>
          <a:p>
            <a:pPr marL="0" indent="0">
              <a:buNone/>
            </a:pPr>
            <a:r>
              <a:rPr lang="en-US" sz="1500" dirty="0">
                <a:solidFill>
                  <a:srgbClr val="5B6770"/>
                </a:solidFill>
                <a:latin typeface="Calibri" pitchFamily="34" charset="0"/>
                <a:ea typeface="Calibri" pitchFamily="34" charset="-122"/>
                <a:cs typeface="Calibri" pitchFamily="34" charset="-120"/>
              </a:rPr>
              <a:t>Many fitness apps are packed with ads or need paid plans for basic tracking.</a:t>
            </a:r>
            <a:endParaRPr lang="en-US" sz="1500" dirty="0"/>
          </a:p>
        </p:txBody>
      </p:sp>
      <p:sp>
        <p:nvSpPr>
          <p:cNvPr id="13" name="Shape 9"/>
          <p:cNvSpPr/>
          <p:nvPr/>
        </p:nvSpPr>
        <p:spPr>
          <a:xfrm>
            <a:off x="6035040" y="1234440"/>
            <a:ext cx="2560320" cy="3291840"/>
          </a:xfrm>
          <a:prstGeom prst="roundRect">
            <a:avLst>
              <a:gd name="adj" fmla="val 4286"/>
            </a:avLst>
          </a:prstGeom>
          <a:solidFill>
            <a:srgbClr val="FFFFFF"/>
          </a:solidFill>
          <a:ln w="9525">
            <a:solidFill>
              <a:srgbClr val="E4E7EB"/>
            </a:solidFill>
            <a:prstDash val="solid"/>
          </a:ln>
          <a:effectLst>
            <a:outerShdw blurRad="101600" dist="25400" dir="5400000" algn="bl" rotWithShape="0">
              <a:srgbClr val="000000">
                <a:alpha val="10000"/>
              </a:srgbClr>
            </a:outerShdw>
          </a:effectLst>
        </p:spPr>
      </p:sp>
      <p:sp>
        <p:nvSpPr>
          <p:cNvPr id="14" name="Shape 10"/>
          <p:cNvSpPr/>
          <p:nvPr/>
        </p:nvSpPr>
        <p:spPr>
          <a:xfrm>
            <a:off x="6263640" y="1508760"/>
            <a:ext cx="731520" cy="731520"/>
          </a:xfrm>
          <a:prstGeom prst="ellipse">
            <a:avLst/>
          </a:prstGeom>
          <a:solidFill>
            <a:srgbClr val="C0392B"/>
          </a:solidFill>
          <a:ln w="12700">
            <a:solidFill>
              <a:srgbClr val="C0392B"/>
            </a:solidFill>
            <a:prstDash val="solid"/>
          </a:ln>
        </p:spPr>
      </p:sp>
      <p:pic>
        <p:nvPicPr>
          <p:cNvPr id="15" name="Image 2" descr="preencoded.png"/>
          <p:cNvPicPr>
            <a:picLocks noChangeAspect="1"/>
          </p:cNvPicPr>
          <p:nvPr/>
        </p:nvPicPr>
        <p:blipFill>
          <a:blip r:embed="rId5"/>
          <a:stretch>
            <a:fillRect/>
          </a:stretch>
        </p:blipFill>
        <p:spPr>
          <a:xfrm>
            <a:off x="6468466" y="1713586"/>
            <a:ext cx="321869" cy="321869"/>
          </a:xfrm>
          <a:prstGeom prst="rect">
            <a:avLst/>
          </a:prstGeom>
        </p:spPr>
      </p:pic>
      <p:sp>
        <p:nvSpPr>
          <p:cNvPr id="16" name="Text 11"/>
          <p:cNvSpPr txBox="1"/>
          <p:nvPr/>
        </p:nvSpPr>
        <p:spPr>
          <a:xfrm>
            <a:off x="6217920" y="2423160"/>
            <a:ext cx="2286000" cy="411480"/>
          </a:xfrm>
          <a:prstGeom prst="rect">
            <a:avLst/>
          </a:prstGeom>
          <a:noFill/>
          <a:ln/>
        </p:spPr>
        <p:txBody>
          <a:bodyPr wrap="square" lIns="0" tIns="0" rIns="0" bIns="0" rtlCol="0" anchor="ctr"/>
          <a:lstStyle/>
          <a:p>
            <a:pPr marL="0" indent="0">
              <a:buNone/>
            </a:pPr>
            <a:r>
              <a:rPr lang="en-US" sz="2000" b="1" dirty="0">
                <a:solidFill>
                  <a:srgbClr val="1F2933"/>
                </a:solidFill>
                <a:latin typeface="Cambria" pitchFamily="34" charset="0"/>
                <a:ea typeface="Cambria" pitchFamily="34" charset="-122"/>
                <a:cs typeface="Cambria" pitchFamily="34" charset="-120"/>
              </a:rPr>
              <a:t>Weak progress view</a:t>
            </a:r>
            <a:endParaRPr lang="en-US" sz="2000" dirty="0"/>
          </a:p>
        </p:txBody>
      </p:sp>
      <p:sp>
        <p:nvSpPr>
          <p:cNvPr id="17" name="Text 12"/>
          <p:cNvSpPr txBox="1"/>
          <p:nvPr/>
        </p:nvSpPr>
        <p:spPr>
          <a:xfrm>
            <a:off x="6217920" y="2880360"/>
            <a:ext cx="2240280" cy="1554480"/>
          </a:xfrm>
          <a:prstGeom prst="rect">
            <a:avLst/>
          </a:prstGeom>
          <a:noFill/>
          <a:ln/>
        </p:spPr>
        <p:txBody>
          <a:bodyPr wrap="square" lIns="0" tIns="0" rIns="0" bIns="0" rtlCol="0" anchor="t"/>
          <a:lstStyle/>
          <a:p>
            <a:pPr marL="0" indent="0">
              <a:buNone/>
            </a:pPr>
            <a:r>
              <a:rPr lang="en-US" sz="1500" dirty="0">
                <a:solidFill>
                  <a:srgbClr val="5B6770"/>
                </a:solidFill>
                <a:latin typeface="Calibri" pitchFamily="34" charset="0"/>
                <a:ea typeface="Calibri" pitchFamily="34" charset="-122"/>
                <a:cs typeface="Calibri" pitchFamily="34" charset="-120"/>
              </a:rPr>
              <a:t>Little insight into trends, so users lose motivation and drop their routine.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4000" b="1" dirty="0">
                <a:solidFill>
                  <a:srgbClr val="1F2933"/>
                </a:solidFill>
                <a:latin typeface="Cambria" pitchFamily="34" charset="0"/>
                <a:ea typeface="Cambria" pitchFamily="34" charset="-122"/>
                <a:cs typeface="Cambria" pitchFamily="34" charset="-120"/>
              </a:rPr>
              <a:t>Proposed System</a:t>
            </a:r>
            <a:endParaRPr lang="en-US" sz="4000" dirty="0"/>
          </a:p>
        </p:txBody>
      </p:sp>
      <p:sp>
        <p:nvSpPr>
          <p:cNvPr id="3" name="Shape 1"/>
          <p:cNvSpPr/>
          <p:nvPr/>
        </p:nvSpPr>
        <p:spPr>
          <a:xfrm>
            <a:off x="548640" y="1188720"/>
            <a:ext cx="2560320" cy="1051560"/>
          </a:xfrm>
          <a:prstGeom prst="roundRect">
            <a:avLst>
              <a:gd name="adj" fmla="val 8696"/>
            </a:avLst>
          </a:prstGeom>
          <a:solidFill>
            <a:srgbClr val="F7F9FA"/>
          </a:solidFill>
          <a:ln w="9525">
            <a:solidFill>
              <a:srgbClr val="E4E7EB"/>
            </a:solidFill>
            <a:prstDash val="solid"/>
          </a:ln>
        </p:spPr>
      </p:sp>
      <p:sp>
        <p:nvSpPr>
          <p:cNvPr id="4" name="Shape 2"/>
          <p:cNvSpPr/>
          <p:nvPr/>
        </p:nvSpPr>
        <p:spPr>
          <a:xfrm>
            <a:off x="731520" y="1417320"/>
            <a:ext cx="594360" cy="594360"/>
          </a:xfrm>
          <a:prstGeom prst="ellipse">
            <a:avLst/>
          </a:prstGeom>
          <a:solidFill>
            <a:srgbClr val="FF6B35"/>
          </a:solidFill>
          <a:ln w="12700">
            <a:solidFill>
              <a:srgbClr val="FF6B35"/>
            </a:solidFill>
            <a:prstDash val="solid"/>
          </a:ln>
        </p:spPr>
      </p:sp>
      <p:pic>
        <p:nvPicPr>
          <p:cNvPr id="5" name="Image 0" descr="preencoded.png"/>
          <p:cNvPicPr>
            <a:picLocks noChangeAspect="1"/>
          </p:cNvPicPr>
          <p:nvPr/>
        </p:nvPicPr>
        <p:blipFill>
          <a:blip r:embed="rId3"/>
          <a:stretch>
            <a:fillRect/>
          </a:stretch>
        </p:blipFill>
        <p:spPr>
          <a:xfrm>
            <a:off x="897941" y="1583741"/>
            <a:ext cx="261518" cy="261518"/>
          </a:xfrm>
          <a:prstGeom prst="rect">
            <a:avLst/>
          </a:prstGeom>
        </p:spPr>
      </p:pic>
      <p:sp>
        <p:nvSpPr>
          <p:cNvPr id="6" name="Text 3"/>
          <p:cNvSpPr txBox="1"/>
          <p:nvPr/>
        </p:nvSpPr>
        <p:spPr>
          <a:xfrm>
            <a:off x="1463040" y="1188720"/>
            <a:ext cx="1554480" cy="1051560"/>
          </a:xfrm>
          <a:prstGeom prst="rect">
            <a:avLst/>
          </a:prstGeom>
          <a:noFill/>
          <a:ln/>
        </p:spPr>
        <p:txBody>
          <a:bodyPr wrap="square" lIns="0" tIns="0" rIns="0" bIns="0" rtlCol="0" anchor="ctr"/>
          <a:lstStyle/>
          <a:p>
            <a:pPr marL="0" indent="0">
              <a:buNone/>
            </a:pPr>
            <a:r>
              <a:rPr lang="en-US" sz="1800" b="1" dirty="0">
                <a:solidFill>
                  <a:srgbClr val="1F2933"/>
                </a:solidFill>
                <a:latin typeface="Calibri" pitchFamily="34" charset="0"/>
                <a:ea typeface="Calibri" pitchFamily="34" charset="-122"/>
                <a:cs typeface="Calibri" pitchFamily="34" charset="-120"/>
              </a:rPr>
              <a:t>Profile setup</a:t>
            </a:r>
            <a:endParaRPr lang="en-US" sz="1800" dirty="0"/>
          </a:p>
        </p:txBody>
      </p:sp>
      <p:sp>
        <p:nvSpPr>
          <p:cNvPr id="7" name="Shape 4"/>
          <p:cNvSpPr/>
          <p:nvPr/>
        </p:nvSpPr>
        <p:spPr>
          <a:xfrm>
            <a:off x="3291840" y="1188720"/>
            <a:ext cx="2560320" cy="1051560"/>
          </a:xfrm>
          <a:prstGeom prst="roundRect">
            <a:avLst>
              <a:gd name="adj" fmla="val 8696"/>
            </a:avLst>
          </a:prstGeom>
          <a:solidFill>
            <a:srgbClr val="F7F9FA"/>
          </a:solidFill>
          <a:ln w="9525">
            <a:solidFill>
              <a:srgbClr val="E4E7EB"/>
            </a:solidFill>
            <a:prstDash val="solid"/>
          </a:ln>
        </p:spPr>
      </p:sp>
      <p:sp>
        <p:nvSpPr>
          <p:cNvPr id="8" name="Shape 5"/>
          <p:cNvSpPr/>
          <p:nvPr/>
        </p:nvSpPr>
        <p:spPr>
          <a:xfrm>
            <a:off x="3474720" y="1417320"/>
            <a:ext cx="594360" cy="594360"/>
          </a:xfrm>
          <a:prstGeom prst="ellipse">
            <a:avLst/>
          </a:prstGeom>
          <a:solidFill>
            <a:srgbClr val="1FAB89"/>
          </a:solidFill>
          <a:ln w="12700">
            <a:solidFill>
              <a:srgbClr val="1FAB89"/>
            </a:solidFill>
            <a:prstDash val="solid"/>
          </a:ln>
        </p:spPr>
      </p:sp>
      <p:pic>
        <p:nvPicPr>
          <p:cNvPr id="9" name="Image 1" descr="preencoded.png"/>
          <p:cNvPicPr>
            <a:picLocks noChangeAspect="1"/>
          </p:cNvPicPr>
          <p:nvPr/>
        </p:nvPicPr>
        <p:blipFill>
          <a:blip r:embed="rId4"/>
          <a:stretch>
            <a:fillRect/>
          </a:stretch>
        </p:blipFill>
        <p:spPr>
          <a:xfrm>
            <a:off x="3641141" y="1583741"/>
            <a:ext cx="261518" cy="261518"/>
          </a:xfrm>
          <a:prstGeom prst="rect">
            <a:avLst/>
          </a:prstGeom>
        </p:spPr>
      </p:pic>
      <p:sp>
        <p:nvSpPr>
          <p:cNvPr id="10" name="Text 6"/>
          <p:cNvSpPr txBox="1"/>
          <p:nvPr/>
        </p:nvSpPr>
        <p:spPr>
          <a:xfrm>
            <a:off x="4206240" y="1188720"/>
            <a:ext cx="1554480" cy="1051560"/>
          </a:xfrm>
          <a:prstGeom prst="rect">
            <a:avLst/>
          </a:prstGeom>
          <a:noFill/>
          <a:ln/>
        </p:spPr>
        <p:txBody>
          <a:bodyPr wrap="square" lIns="0" tIns="0" rIns="0" bIns="0" rtlCol="0" anchor="ctr"/>
          <a:lstStyle/>
          <a:p>
            <a:pPr marL="0" indent="0">
              <a:buNone/>
            </a:pPr>
            <a:r>
              <a:rPr lang="en-US" sz="1800" b="1" dirty="0">
                <a:solidFill>
                  <a:srgbClr val="1F2933"/>
                </a:solidFill>
                <a:latin typeface="Calibri" pitchFamily="34" charset="0"/>
                <a:ea typeface="Calibri" pitchFamily="34" charset="-122"/>
                <a:cs typeface="Calibri" pitchFamily="34" charset="-120"/>
              </a:rPr>
              <a:t>Add workouts</a:t>
            </a:r>
            <a:endParaRPr lang="en-US" sz="1800" dirty="0"/>
          </a:p>
        </p:txBody>
      </p:sp>
      <p:sp>
        <p:nvSpPr>
          <p:cNvPr id="11" name="Shape 7"/>
          <p:cNvSpPr/>
          <p:nvPr/>
        </p:nvSpPr>
        <p:spPr>
          <a:xfrm>
            <a:off x="6035040" y="1188720"/>
            <a:ext cx="2560320" cy="1051560"/>
          </a:xfrm>
          <a:prstGeom prst="roundRect">
            <a:avLst>
              <a:gd name="adj" fmla="val 8696"/>
            </a:avLst>
          </a:prstGeom>
          <a:solidFill>
            <a:srgbClr val="F7F9FA"/>
          </a:solidFill>
          <a:ln w="9525">
            <a:solidFill>
              <a:srgbClr val="E4E7EB"/>
            </a:solidFill>
            <a:prstDash val="solid"/>
          </a:ln>
        </p:spPr>
      </p:sp>
      <p:sp>
        <p:nvSpPr>
          <p:cNvPr id="12" name="Shape 8"/>
          <p:cNvSpPr/>
          <p:nvPr/>
        </p:nvSpPr>
        <p:spPr>
          <a:xfrm>
            <a:off x="6217920" y="1417320"/>
            <a:ext cx="594360" cy="594360"/>
          </a:xfrm>
          <a:prstGeom prst="ellipse">
            <a:avLst/>
          </a:prstGeom>
          <a:solidFill>
            <a:srgbClr val="FF6B35"/>
          </a:solidFill>
          <a:ln w="12700">
            <a:solidFill>
              <a:srgbClr val="FF6B35"/>
            </a:solidFill>
            <a:prstDash val="solid"/>
          </a:ln>
        </p:spPr>
      </p:sp>
      <p:pic>
        <p:nvPicPr>
          <p:cNvPr id="13" name="Image 2" descr="preencoded.png"/>
          <p:cNvPicPr>
            <a:picLocks noChangeAspect="1"/>
          </p:cNvPicPr>
          <p:nvPr/>
        </p:nvPicPr>
        <p:blipFill>
          <a:blip r:embed="rId5"/>
          <a:stretch>
            <a:fillRect/>
          </a:stretch>
        </p:blipFill>
        <p:spPr>
          <a:xfrm>
            <a:off x="6384341" y="1583741"/>
            <a:ext cx="261518" cy="261518"/>
          </a:xfrm>
          <a:prstGeom prst="rect">
            <a:avLst/>
          </a:prstGeom>
        </p:spPr>
      </p:pic>
      <p:sp>
        <p:nvSpPr>
          <p:cNvPr id="14" name="Text 9"/>
          <p:cNvSpPr txBox="1"/>
          <p:nvPr/>
        </p:nvSpPr>
        <p:spPr>
          <a:xfrm>
            <a:off x="6949440" y="1188720"/>
            <a:ext cx="1554480" cy="1051560"/>
          </a:xfrm>
          <a:prstGeom prst="rect">
            <a:avLst/>
          </a:prstGeom>
          <a:noFill/>
          <a:ln/>
        </p:spPr>
        <p:txBody>
          <a:bodyPr wrap="square" lIns="0" tIns="0" rIns="0" bIns="0" rtlCol="0" anchor="ctr"/>
          <a:lstStyle/>
          <a:p>
            <a:pPr marL="0" indent="0">
              <a:buNone/>
            </a:pPr>
            <a:r>
              <a:rPr lang="en-US" sz="1800" b="1" dirty="0">
                <a:solidFill>
                  <a:srgbClr val="1F2933"/>
                </a:solidFill>
                <a:latin typeface="Calibri" pitchFamily="34" charset="0"/>
                <a:ea typeface="Calibri" pitchFamily="34" charset="-122"/>
                <a:cs typeface="Calibri" pitchFamily="34" charset="-120"/>
              </a:rPr>
              <a:t>Calorie tracking</a:t>
            </a:r>
            <a:endParaRPr lang="en-US" sz="1800" dirty="0"/>
          </a:p>
        </p:txBody>
      </p:sp>
      <p:sp>
        <p:nvSpPr>
          <p:cNvPr id="15" name="Shape 10"/>
          <p:cNvSpPr/>
          <p:nvPr/>
        </p:nvSpPr>
        <p:spPr>
          <a:xfrm>
            <a:off x="548640" y="2423160"/>
            <a:ext cx="2560320" cy="1051560"/>
          </a:xfrm>
          <a:prstGeom prst="roundRect">
            <a:avLst>
              <a:gd name="adj" fmla="val 8696"/>
            </a:avLst>
          </a:prstGeom>
          <a:solidFill>
            <a:srgbClr val="F7F9FA"/>
          </a:solidFill>
          <a:ln w="9525">
            <a:solidFill>
              <a:srgbClr val="E4E7EB"/>
            </a:solidFill>
            <a:prstDash val="solid"/>
          </a:ln>
        </p:spPr>
      </p:sp>
      <p:sp>
        <p:nvSpPr>
          <p:cNvPr id="16" name="Shape 11"/>
          <p:cNvSpPr/>
          <p:nvPr/>
        </p:nvSpPr>
        <p:spPr>
          <a:xfrm>
            <a:off x="731520" y="2651760"/>
            <a:ext cx="594360" cy="594360"/>
          </a:xfrm>
          <a:prstGeom prst="ellipse">
            <a:avLst/>
          </a:prstGeom>
          <a:solidFill>
            <a:srgbClr val="1FAB89"/>
          </a:solidFill>
          <a:ln w="12700">
            <a:solidFill>
              <a:srgbClr val="1FAB89"/>
            </a:solidFill>
            <a:prstDash val="solid"/>
          </a:ln>
        </p:spPr>
      </p:sp>
      <p:pic>
        <p:nvPicPr>
          <p:cNvPr id="17" name="Image 3" descr="preencoded.png"/>
          <p:cNvPicPr>
            <a:picLocks noChangeAspect="1"/>
          </p:cNvPicPr>
          <p:nvPr/>
        </p:nvPicPr>
        <p:blipFill>
          <a:blip r:embed="rId6"/>
          <a:stretch>
            <a:fillRect/>
          </a:stretch>
        </p:blipFill>
        <p:spPr>
          <a:xfrm>
            <a:off x="897941" y="2818181"/>
            <a:ext cx="261518" cy="261518"/>
          </a:xfrm>
          <a:prstGeom prst="rect">
            <a:avLst/>
          </a:prstGeom>
        </p:spPr>
      </p:pic>
      <p:sp>
        <p:nvSpPr>
          <p:cNvPr id="18" name="Text 12"/>
          <p:cNvSpPr txBox="1"/>
          <p:nvPr/>
        </p:nvSpPr>
        <p:spPr>
          <a:xfrm>
            <a:off x="1463040" y="2423160"/>
            <a:ext cx="1554480" cy="1051560"/>
          </a:xfrm>
          <a:prstGeom prst="rect">
            <a:avLst/>
          </a:prstGeom>
          <a:noFill/>
          <a:ln/>
        </p:spPr>
        <p:txBody>
          <a:bodyPr wrap="square" lIns="0" tIns="0" rIns="0" bIns="0" rtlCol="0" anchor="ctr"/>
          <a:lstStyle/>
          <a:p>
            <a:pPr marL="0" indent="0">
              <a:buNone/>
            </a:pPr>
            <a:r>
              <a:rPr lang="en-US" sz="1800" b="1" dirty="0">
                <a:solidFill>
                  <a:srgbClr val="1F2933"/>
                </a:solidFill>
                <a:latin typeface="Calibri" pitchFamily="34" charset="0"/>
                <a:ea typeface="Calibri" pitchFamily="34" charset="-122"/>
                <a:cs typeface="Calibri" pitchFamily="34" charset="-120"/>
              </a:rPr>
              <a:t>Progress reports</a:t>
            </a:r>
            <a:endParaRPr lang="en-US" sz="1800" dirty="0"/>
          </a:p>
        </p:txBody>
      </p:sp>
      <p:sp>
        <p:nvSpPr>
          <p:cNvPr id="19" name="Shape 13"/>
          <p:cNvSpPr/>
          <p:nvPr/>
        </p:nvSpPr>
        <p:spPr>
          <a:xfrm>
            <a:off x="3291840" y="2423160"/>
            <a:ext cx="2560320" cy="1051560"/>
          </a:xfrm>
          <a:prstGeom prst="roundRect">
            <a:avLst>
              <a:gd name="adj" fmla="val 8696"/>
            </a:avLst>
          </a:prstGeom>
          <a:solidFill>
            <a:srgbClr val="F7F9FA"/>
          </a:solidFill>
          <a:ln w="9525">
            <a:solidFill>
              <a:srgbClr val="E4E7EB"/>
            </a:solidFill>
            <a:prstDash val="solid"/>
          </a:ln>
        </p:spPr>
      </p:sp>
      <p:sp>
        <p:nvSpPr>
          <p:cNvPr id="20" name="Shape 14"/>
          <p:cNvSpPr/>
          <p:nvPr/>
        </p:nvSpPr>
        <p:spPr>
          <a:xfrm>
            <a:off x="3474720" y="2651760"/>
            <a:ext cx="594360" cy="594360"/>
          </a:xfrm>
          <a:prstGeom prst="ellipse">
            <a:avLst/>
          </a:prstGeom>
          <a:solidFill>
            <a:srgbClr val="FF6B35"/>
          </a:solidFill>
          <a:ln w="12700">
            <a:solidFill>
              <a:srgbClr val="FF6B35"/>
            </a:solidFill>
            <a:prstDash val="solid"/>
          </a:ln>
        </p:spPr>
      </p:sp>
      <p:pic>
        <p:nvPicPr>
          <p:cNvPr id="21" name="Image 4" descr="preencoded.png"/>
          <p:cNvPicPr>
            <a:picLocks noChangeAspect="1"/>
          </p:cNvPicPr>
          <p:nvPr/>
        </p:nvPicPr>
        <p:blipFill>
          <a:blip r:embed="rId7"/>
          <a:stretch>
            <a:fillRect/>
          </a:stretch>
        </p:blipFill>
        <p:spPr>
          <a:xfrm>
            <a:off x="3641141" y="2818181"/>
            <a:ext cx="261518" cy="261518"/>
          </a:xfrm>
          <a:prstGeom prst="rect">
            <a:avLst/>
          </a:prstGeom>
        </p:spPr>
      </p:pic>
      <p:sp>
        <p:nvSpPr>
          <p:cNvPr id="22" name="Text 15"/>
          <p:cNvSpPr txBox="1"/>
          <p:nvPr/>
        </p:nvSpPr>
        <p:spPr>
          <a:xfrm>
            <a:off x="4206240" y="2423160"/>
            <a:ext cx="1554480" cy="1051560"/>
          </a:xfrm>
          <a:prstGeom prst="rect">
            <a:avLst/>
          </a:prstGeom>
          <a:noFill/>
          <a:ln/>
        </p:spPr>
        <p:txBody>
          <a:bodyPr wrap="square" lIns="0" tIns="0" rIns="0" bIns="0" rtlCol="0" anchor="ctr"/>
          <a:lstStyle/>
          <a:p>
            <a:pPr marL="0" indent="0">
              <a:buNone/>
            </a:pPr>
            <a:r>
              <a:rPr lang="en-US" sz="1800" b="1" dirty="0">
                <a:solidFill>
                  <a:srgbClr val="1F2933"/>
                </a:solidFill>
                <a:latin typeface="Calibri" pitchFamily="34" charset="0"/>
                <a:ea typeface="Calibri" pitchFamily="34" charset="-122"/>
                <a:cs typeface="Calibri" pitchFamily="34" charset="-120"/>
              </a:rPr>
              <a:t>BMI calculator</a:t>
            </a:r>
            <a:endParaRPr lang="en-US" sz="1800" dirty="0"/>
          </a:p>
        </p:txBody>
      </p:sp>
      <p:sp>
        <p:nvSpPr>
          <p:cNvPr id="23" name="Shape 16"/>
          <p:cNvSpPr/>
          <p:nvPr/>
        </p:nvSpPr>
        <p:spPr>
          <a:xfrm>
            <a:off x="6035040" y="2423160"/>
            <a:ext cx="2560320" cy="1051560"/>
          </a:xfrm>
          <a:prstGeom prst="roundRect">
            <a:avLst>
              <a:gd name="adj" fmla="val 8696"/>
            </a:avLst>
          </a:prstGeom>
          <a:solidFill>
            <a:srgbClr val="F7F9FA"/>
          </a:solidFill>
          <a:ln w="9525">
            <a:solidFill>
              <a:srgbClr val="E4E7EB"/>
            </a:solidFill>
            <a:prstDash val="solid"/>
          </a:ln>
        </p:spPr>
      </p:sp>
      <p:sp>
        <p:nvSpPr>
          <p:cNvPr id="24" name="Shape 17"/>
          <p:cNvSpPr/>
          <p:nvPr/>
        </p:nvSpPr>
        <p:spPr>
          <a:xfrm>
            <a:off x="6217920" y="2651760"/>
            <a:ext cx="594360" cy="594360"/>
          </a:xfrm>
          <a:prstGeom prst="ellipse">
            <a:avLst/>
          </a:prstGeom>
          <a:solidFill>
            <a:srgbClr val="1FAB89"/>
          </a:solidFill>
          <a:ln w="12700">
            <a:solidFill>
              <a:srgbClr val="1FAB89"/>
            </a:solidFill>
            <a:prstDash val="solid"/>
          </a:ln>
        </p:spPr>
      </p:sp>
      <p:pic>
        <p:nvPicPr>
          <p:cNvPr id="25" name="Image 5" descr="preencoded.png"/>
          <p:cNvPicPr>
            <a:picLocks noChangeAspect="1"/>
          </p:cNvPicPr>
          <p:nvPr/>
        </p:nvPicPr>
        <p:blipFill>
          <a:blip r:embed="rId8"/>
          <a:stretch>
            <a:fillRect/>
          </a:stretch>
        </p:blipFill>
        <p:spPr>
          <a:xfrm>
            <a:off x="6384341" y="2818181"/>
            <a:ext cx="261518" cy="261518"/>
          </a:xfrm>
          <a:prstGeom prst="rect">
            <a:avLst/>
          </a:prstGeom>
        </p:spPr>
      </p:pic>
      <p:sp>
        <p:nvSpPr>
          <p:cNvPr id="26" name="Text 18"/>
          <p:cNvSpPr txBox="1"/>
          <p:nvPr/>
        </p:nvSpPr>
        <p:spPr>
          <a:xfrm>
            <a:off x="6949440" y="2423160"/>
            <a:ext cx="1554480" cy="1051560"/>
          </a:xfrm>
          <a:prstGeom prst="rect">
            <a:avLst/>
          </a:prstGeom>
          <a:noFill/>
          <a:ln/>
        </p:spPr>
        <p:txBody>
          <a:bodyPr wrap="square" lIns="0" tIns="0" rIns="0" bIns="0" rtlCol="0" anchor="ctr"/>
          <a:lstStyle/>
          <a:p>
            <a:pPr marL="0" indent="0">
              <a:buNone/>
            </a:pPr>
            <a:r>
              <a:rPr lang="en-US" sz="1800" b="1" dirty="0">
                <a:solidFill>
                  <a:srgbClr val="1F2933"/>
                </a:solidFill>
                <a:latin typeface="Calibri" pitchFamily="34" charset="0"/>
                <a:ea typeface="Calibri" pitchFamily="34" charset="-122"/>
                <a:cs typeface="Calibri" pitchFamily="34" charset="-120"/>
              </a:rPr>
              <a:t>Workout records</a:t>
            </a:r>
            <a:endParaRPr lang="en-US" sz="1800" dirty="0"/>
          </a:p>
        </p:txBody>
      </p:sp>
      <p:sp>
        <p:nvSpPr>
          <p:cNvPr id="27" name="Shape 19"/>
          <p:cNvSpPr/>
          <p:nvPr/>
        </p:nvSpPr>
        <p:spPr>
          <a:xfrm>
            <a:off x="548640" y="3749040"/>
            <a:ext cx="8046720" cy="640080"/>
          </a:xfrm>
          <a:prstGeom prst="roundRect">
            <a:avLst>
              <a:gd name="adj" fmla="val 14286"/>
            </a:avLst>
          </a:prstGeom>
          <a:solidFill>
            <a:srgbClr val="17202A"/>
          </a:solidFill>
          <a:ln w="12700">
            <a:solidFill>
              <a:srgbClr val="17202A"/>
            </a:solidFill>
            <a:prstDash val="solid"/>
          </a:ln>
        </p:spPr>
      </p:sp>
      <p:sp>
        <p:nvSpPr>
          <p:cNvPr id="28" name="Text 20"/>
          <p:cNvSpPr txBox="1"/>
          <p:nvPr/>
        </p:nvSpPr>
        <p:spPr>
          <a:xfrm>
            <a:off x="822960" y="3749040"/>
            <a:ext cx="7589520" cy="640080"/>
          </a:xfrm>
          <a:prstGeom prst="rect">
            <a:avLst/>
          </a:prstGeom>
          <a:noFill/>
          <a:ln/>
        </p:spPr>
        <p:txBody>
          <a:bodyPr wrap="square" lIns="0" tIns="0" rIns="0" bIns="0" rtlCol="0" anchor="ctr"/>
          <a:lstStyle/>
          <a:p>
            <a:pPr marL="0" indent="0">
              <a:buNone/>
            </a:pPr>
            <a:r>
              <a:rPr lang="en-US" sz="1700" b="1" dirty="0">
                <a:solidFill>
                  <a:srgbClr val="FF6B35"/>
                </a:solidFill>
                <a:latin typeface="Calibri" pitchFamily="34" charset="0"/>
                <a:ea typeface="Calibri" pitchFamily="34" charset="-122"/>
                <a:cs typeface="Calibri" pitchFamily="34" charset="-120"/>
              </a:rPr>
              <a:t>Built with:  </a:t>
            </a:r>
            <a:r>
              <a:rPr lang="en-US" sz="1700" dirty="0">
                <a:solidFill>
                  <a:srgbClr val="FFFFFF"/>
                </a:solidFill>
                <a:latin typeface="Calibri" pitchFamily="34" charset="0"/>
                <a:ea typeface="Calibri" pitchFamily="34" charset="-122"/>
                <a:cs typeface="Calibri" pitchFamily="34" charset="-120"/>
              </a:rPr>
              <a:t>Java  |  Scanner  |  Control Statements  |  Methods  |  Arrays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4000" b="1" dirty="0">
                <a:solidFill>
                  <a:srgbClr val="1F2933"/>
                </a:solidFill>
                <a:latin typeface="Cambria" pitchFamily="34" charset="0"/>
                <a:ea typeface="Cambria" pitchFamily="34" charset="-122"/>
                <a:cs typeface="Cambria" pitchFamily="34" charset="-120"/>
              </a:rPr>
              <a:t>Flowchart</a:t>
            </a:r>
            <a:endParaRPr lang="en-US" sz="4000" dirty="0"/>
          </a:p>
        </p:txBody>
      </p:sp>
      <p:sp>
        <p:nvSpPr>
          <p:cNvPr id="3" name="Text 1"/>
          <p:cNvSpPr/>
          <p:nvPr/>
        </p:nvSpPr>
        <p:spPr>
          <a:xfrm>
            <a:off x="457200" y="1600200"/>
            <a:ext cx="1097280" cy="548640"/>
          </a:xfrm>
          <a:prstGeom prst="ellipse">
            <a:avLst/>
          </a:prstGeom>
          <a:solidFill>
            <a:srgbClr val="17202A"/>
          </a:solidFill>
          <a:ln w="19050">
            <a:solidFill>
              <a:srgbClr val="17202A"/>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Start</a:t>
            </a:r>
            <a:endParaRPr lang="en-US" sz="1400" dirty="0"/>
          </a:p>
        </p:txBody>
      </p:sp>
      <p:sp>
        <p:nvSpPr>
          <p:cNvPr id="4" name="Text 2"/>
          <p:cNvSpPr/>
          <p:nvPr/>
        </p:nvSpPr>
        <p:spPr>
          <a:xfrm>
            <a:off x="1828800" y="1554480"/>
            <a:ext cx="1737360" cy="640080"/>
          </a:xfrm>
          <a:prstGeom prst="parallelogram">
            <a:avLst/>
          </a:prstGeom>
          <a:solidFill>
            <a:srgbClr val="D6F2EA"/>
          </a:solidFill>
          <a:ln w="19050">
            <a:solidFill>
              <a:srgbClr val="1FAB89"/>
            </a:solidFill>
          </a:ln>
        </p:spPr>
        <p:txBody>
          <a:bodyPr wrap="square" lIns="0" tIns="0" rIns="0" bIns="0" rtlCol="0" anchor="ctr"/>
          <a:lstStyle/>
          <a:p>
            <a:pPr marL="0" indent="0" algn="ctr">
              <a:buNone/>
            </a:pPr>
            <a:r>
              <a:rPr lang="en-US" sz="1400" dirty="0">
                <a:solidFill>
                  <a:srgbClr val="1F2933"/>
                </a:solidFill>
                <a:latin typeface="Calibri" pitchFamily="34" charset="0"/>
                <a:ea typeface="Calibri" pitchFamily="34" charset="-122"/>
                <a:cs typeface="Calibri" pitchFamily="34" charset="-120"/>
              </a:rPr>
              <a:t>Enter user details</a:t>
            </a:r>
            <a:endParaRPr lang="en-US" sz="1400" dirty="0"/>
          </a:p>
        </p:txBody>
      </p:sp>
      <p:sp>
        <p:nvSpPr>
          <p:cNvPr id="5" name="Text 3"/>
          <p:cNvSpPr/>
          <p:nvPr/>
        </p:nvSpPr>
        <p:spPr>
          <a:xfrm>
            <a:off x="3840480" y="1554480"/>
            <a:ext cx="1737360" cy="640080"/>
          </a:xfrm>
          <a:prstGeom prst="parallelogram">
            <a:avLst/>
          </a:prstGeom>
          <a:solidFill>
            <a:srgbClr val="D6F2EA"/>
          </a:solidFill>
          <a:ln w="19050">
            <a:solidFill>
              <a:srgbClr val="1FAB89"/>
            </a:solidFill>
          </a:ln>
        </p:spPr>
        <p:txBody>
          <a:bodyPr wrap="square" lIns="0" tIns="0" rIns="0" bIns="0" rtlCol="0" anchor="ctr"/>
          <a:lstStyle/>
          <a:p>
            <a:pPr marL="0" indent="0" algn="ctr">
              <a:buNone/>
            </a:pPr>
            <a:r>
              <a:rPr lang="en-US" sz="1400" dirty="0">
                <a:solidFill>
                  <a:srgbClr val="1F2933"/>
                </a:solidFill>
                <a:latin typeface="Calibri" pitchFamily="34" charset="0"/>
                <a:ea typeface="Calibri" pitchFamily="34" charset="-122"/>
                <a:cs typeface="Calibri" pitchFamily="34" charset="-120"/>
              </a:rPr>
              <a:t>Show menu, read choice</a:t>
            </a:r>
            <a:endParaRPr lang="en-US" sz="1400" dirty="0"/>
          </a:p>
        </p:txBody>
      </p:sp>
      <p:sp>
        <p:nvSpPr>
          <p:cNvPr id="6" name="Text 4"/>
          <p:cNvSpPr/>
          <p:nvPr/>
        </p:nvSpPr>
        <p:spPr>
          <a:xfrm>
            <a:off x="5852160" y="1325880"/>
            <a:ext cx="2468880" cy="1097280"/>
          </a:xfrm>
          <a:prstGeom prst="diamond">
            <a:avLst/>
          </a:prstGeom>
          <a:solidFill>
            <a:srgbClr val="FFE3D6"/>
          </a:solidFill>
          <a:ln w="19050">
            <a:solidFill>
              <a:srgbClr val="FF6B35"/>
            </a:solidFill>
          </a:ln>
        </p:spPr>
        <p:txBody>
          <a:bodyPr wrap="square" lIns="0" tIns="0" rIns="0" bIns="0" rtlCol="0" anchor="ctr"/>
          <a:lstStyle/>
          <a:p>
            <a:pPr marL="0" indent="0" algn="ctr">
              <a:buNone/>
            </a:pPr>
            <a:r>
              <a:rPr lang="en-US" sz="1400" b="1" dirty="0">
                <a:solidFill>
                  <a:srgbClr val="1F2933"/>
                </a:solidFill>
                <a:latin typeface="Calibri" pitchFamily="34" charset="0"/>
                <a:ea typeface="Calibri" pitchFamily="34" charset="-122"/>
                <a:cs typeface="Calibri" pitchFamily="34" charset="-120"/>
              </a:rPr>
              <a:t>Menu choice?</a:t>
            </a:r>
            <a:endParaRPr lang="en-US" sz="1400" dirty="0"/>
          </a:p>
        </p:txBody>
      </p:sp>
      <p:sp>
        <p:nvSpPr>
          <p:cNvPr id="7" name="Shape 5"/>
          <p:cNvSpPr/>
          <p:nvPr/>
        </p:nvSpPr>
        <p:spPr>
          <a:xfrm>
            <a:off x="1554480" y="1874520"/>
            <a:ext cx="274320" cy="0"/>
          </a:xfrm>
          <a:prstGeom prst="line">
            <a:avLst/>
          </a:prstGeom>
          <a:noFill/>
          <a:ln w="22225">
            <a:solidFill>
              <a:srgbClr val="3E4C59"/>
            </a:solidFill>
            <a:prstDash val="solid"/>
            <a:tailEnd type="triangle"/>
          </a:ln>
        </p:spPr>
      </p:sp>
      <p:sp>
        <p:nvSpPr>
          <p:cNvPr id="8" name="Shape 6"/>
          <p:cNvSpPr/>
          <p:nvPr/>
        </p:nvSpPr>
        <p:spPr>
          <a:xfrm>
            <a:off x="3566160" y="1874520"/>
            <a:ext cx="274320" cy="0"/>
          </a:xfrm>
          <a:prstGeom prst="line">
            <a:avLst/>
          </a:prstGeom>
          <a:noFill/>
          <a:ln w="22225">
            <a:solidFill>
              <a:srgbClr val="3E4C59"/>
            </a:solidFill>
            <a:prstDash val="solid"/>
            <a:tailEnd type="triangle"/>
          </a:ln>
        </p:spPr>
      </p:sp>
      <p:sp>
        <p:nvSpPr>
          <p:cNvPr id="9" name="Shape 7"/>
          <p:cNvSpPr/>
          <p:nvPr/>
        </p:nvSpPr>
        <p:spPr>
          <a:xfrm>
            <a:off x="5577840" y="1874520"/>
            <a:ext cx="274320" cy="0"/>
          </a:xfrm>
          <a:prstGeom prst="line">
            <a:avLst/>
          </a:prstGeom>
          <a:noFill/>
          <a:ln w="22225">
            <a:solidFill>
              <a:srgbClr val="3E4C59"/>
            </a:solidFill>
            <a:prstDash val="solid"/>
            <a:tailEnd type="triangle"/>
          </a:ln>
        </p:spPr>
      </p:sp>
      <p:sp>
        <p:nvSpPr>
          <p:cNvPr id="10" name="Text 8"/>
          <p:cNvSpPr/>
          <p:nvPr/>
        </p:nvSpPr>
        <p:spPr>
          <a:xfrm>
            <a:off x="457200" y="3017520"/>
            <a:ext cx="1737360" cy="685800"/>
          </a:xfrm>
          <a:prstGeom prst="rect">
            <a:avLst/>
          </a:prstGeom>
          <a:solidFill>
            <a:srgbClr val="FFFFFF"/>
          </a:solidFill>
          <a:ln w="19050">
            <a:solidFill>
              <a:srgbClr val="17202A"/>
            </a:solidFill>
          </a:ln>
        </p:spPr>
        <p:txBody>
          <a:bodyPr wrap="square" lIns="0" tIns="0" rIns="0" bIns="0" rtlCol="0" anchor="ctr"/>
          <a:lstStyle/>
          <a:p>
            <a:pPr marL="0" indent="0" algn="ctr">
              <a:buNone/>
            </a:pPr>
            <a:r>
              <a:rPr lang="en-US" sz="1400" b="1" dirty="0">
                <a:solidFill>
                  <a:srgbClr val="1F2933"/>
                </a:solidFill>
                <a:latin typeface="Calibri" pitchFamily="34" charset="0"/>
                <a:ea typeface="Calibri" pitchFamily="34" charset="-122"/>
                <a:cs typeface="Calibri" pitchFamily="34" charset="-120"/>
              </a:rPr>
              <a:t>1. Add workout</a:t>
            </a:r>
            <a:endParaRPr lang="en-US" sz="1400" dirty="0"/>
          </a:p>
        </p:txBody>
      </p:sp>
      <p:sp>
        <p:nvSpPr>
          <p:cNvPr id="11" name="Text 9"/>
          <p:cNvSpPr/>
          <p:nvPr/>
        </p:nvSpPr>
        <p:spPr>
          <a:xfrm>
            <a:off x="2377440" y="3017520"/>
            <a:ext cx="1737360" cy="685800"/>
          </a:xfrm>
          <a:prstGeom prst="rect">
            <a:avLst/>
          </a:prstGeom>
          <a:solidFill>
            <a:srgbClr val="FFFFFF"/>
          </a:solidFill>
          <a:ln w="19050">
            <a:solidFill>
              <a:srgbClr val="17202A"/>
            </a:solidFill>
          </a:ln>
        </p:spPr>
        <p:txBody>
          <a:bodyPr wrap="square" lIns="0" tIns="0" rIns="0" bIns="0" rtlCol="0" anchor="ctr"/>
          <a:lstStyle/>
          <a:p>
            <a:pPr marL="0" indent="0" algn="ctr">
              <a:buNone/>
            </a:pPr>
            <a:r>
              <a:rPr lang="en-US" sz="1400" b="1" dirty="0">
                <a:solidFill>
                  <a:srgbClr val="1F2933"/>
                </a:solidFill>
                <a:latin typeface="Calibri" pitchFamily="34" charset="0"/>
                <a:ea typeface="Calibri" pitchFamily="34" charset="-122"/>
                <a:cs typeface="Calibri" pitchFamily="34" charset="-120"/>
              </a:rPr>
              <a:t>2. Calculate BMI</a:t>
            </a:r>
            <a:endParaRPr lang="en-US" sz="1400" dirty="0"/>
          </a:p>
        </p:txBody>
      </p:sp>
      <p:sp>
        <p:nvSpPr>
          <p:cNvPr id="12" name="Text 10"/>
          <p:cNvSpPr/>
          <p:nvPr/>
        </p:nvSpPr>
        <p:spPr>
          <a:xfrm>
            <a:off x="4297680" y="3017520"/>
            <a:ext cx="1737360" cy="685800"/>
          </a:xfrm>
          <a:prstGeom prst="rect">
            <a:avLst/>
          </a:prstGeom>
          <a:solidFill>
            <a:srgbClr val="FFFFFF"/>
          </a:solidFill>
          <a:ln w="19050">
            <a:solidFill>
              <a:srgbClr val="17202A"/>
            </a:solidFill>
          </a:ln>
        </p:spPr>
        <p:txBody>
          <a:bodyPr wrap="square" lIns="0" tIns="0" rIns="0" bIns="0" rtlCol="0" anchor="ctr"/>
          <a:lstStyle/>
          <a:p>
            <a:pPr marL="0" indent="0" algn="ctr">
              <a:buNone/>
            </a:pPr>
            <a:r>
              <a:rPr lang="en-US" sz="1400" b="1" dirty="0">
                <a:solidFill>
                  <a:srgbClr val="1F2933"/>
                </a:solidFill>
                <a:latin typeface="Calibri" pitchFamily="34" charset="0"/>
                <a:ea typeface="Calibri" pitchFamily="34" charset="-122"/>
                <a:cs typeface="Calibri" pitchFamily="34" charset="-120"/>
              </a:rPr>
              <a:t>3. View report</a:t>
            </a:r>
            <a:endParaRPr lang="en-US" sz="1400" dirty="0"/>
          </a:p>
        </p:txBody>
      </p:sp>
      <p:sp>
        <p:nvSpPr>
          <p:cNvPr id="13" name="Text 11"/>
          <p:cNvSpPr/>
          <p:nvPr/>
        </p:nvSpPr>
        <p:spPr>
          <a:xfrm>
            <a:off x="6217920" y="3017520"/>
            <a:ext cx="1737360" cy="685800"/>
          </a:xfrm>
          <a:prstGeom prst="rect">
            <a:avLst/>
          </a:prstGeom>
          <a:solidFill>
            <a:srgbClr val="FFFFFF"/>
          </a:solidFill>
          <a:ln w="19050">
            <a:solidFill>
              <a:srgbClr val="17202A"/>
            </a:solidFill>
          </a:ln>
        </p:spPr>
        <p:txBody>
          <a:bodyPr wrap="square" lIns="0" tIns="0" rIns="0" bIns="0" rtlCol="0" anchor="ctr"/>
          <a:lstStyle/>
          <a:p>
            <a:pPr marL="0" indent="0" algn="ctr">
              <a:buNone/>
            </a:pPr>
            <a:r>
              <a:rPr lang="en-US" sz="1400" b="1" dirty="0">
                <a:solidFill>
                  <a:srgbClr val="1F2933"/>
                </a:solidFill>
                <a:latin typeface="Calibri" pitchFamily="34" charset="0"/>
                <a:ea typeface="Calibri" pitchFamily="34" charset="-122"/>
                <a:cs typeface="Calibri" pitchFamily="34" charset="-120"/>
              </a:rPr>
              <a:t>4. Exit</a:t>
            </a:r>
            <a:endParaRPr lang="en-US" sz="1400" dirty="0"/>
          </a:p>
        </p:txBody>
      </p:sp>
      <p:sp>
        <p:nvSpPr>
          <p:cNvPr id="14" name="Shape 12"/>
          <p:cNvSpPr/>
          <p:nvPr/>
        </p:nvSpPr>
        <p:spPr>
          <a:xfrm>
            <a:off x="7086600" y="2423160"/>
            <a:ext cx="0" cy="594360"/>
          </a:xfrm>
          <a:prstGeom prst="line">
            <a:avLst/>
          </a:prstGeom>
          <a:noFill/>
          <a:ln w="22225">
            <a:solidFill>
              <a:srgbClr val="3E4C59"/>
            </a:solidFill>
            <a:prstDash val="solid"/>
            <a:tailEnd type="triangle"/>
          </a:ln>
        </p:spPr>
      </p:sp>
      <p:sp>
        <p:nvSpPr>
          <p:cNvPr id="15" name="Shape 13"/>
          <p:cNvSpPr/>
          <p:nvPr/>
        </p:nvSpPr>
        <p:spPr>
          <a:xfrm>
            <a:off x="1325880" y="2743200"/>
            <a:ext cx="5760720" cy="0"/>
          </a:xfrm>
          <a:prstGeom prst="line">
            <a:avLst/>
          </a:prstGeom>
          <a:noFill/>
          <a:ln w="22225">
            <a:solidFill>
              <a:srgbClr val="3E4C59"/>
            </a:solidFill>
            <a:prstDash val="solid"/>
          </a:ln>
        </p:spPr>
      </p:sp>
      <p:sp>
        <p:nvSpPr>
          <p:cNvPr id="16" name="Shape 14"/>
          <p:cNvSpPr/>
          <p:nvPr/>
        </p:nvSpPr>
        <p:spPr>
          <a:xfrm>
            <a:off x="1325880" y="2743200"/>
            <a:ext cx="0" cy="274320"/>
          </a:xfrm>
          <a:prstGeom prst="line">
            <a:avLst/>
          </a:prstGeom>
          <a:noFill/>
          <a:ln w="22225">
            <a:solidFill>
              <a:srgbClr val="3E4C59"/>
            </a:solidFill>
            <a:prstDash val="solid"/>
            <a:tailEnd type="triangle"/>
          </a:ln>
        </p:spPr>
      </p:sp>
      <p:sp>
        <p:nvSpPr>
          <p:cNvPr id="17" name="Shape 15"/>
          <p:cNvSpPr/>
          <p:nvPr/>
        </p:nvSpPr>
        <p:spPr>
          <a:xfrm>
            <a:off x="3246120" y="2743200"/>
            <a:ext cx="0" cy="274320"/>
          </a:xfrm>
          <a:prstGeom prst="line">
            <a:avLst/>
          </a:prstGeom>
          <a:noFill/>
          <a:ln w="22225">
            <a:solidFill>
              <a:srgbClr val="3E4C59"/>
            </a:solidFill>
            <a:prstDash val="solid"/>
            <a:tailEnd type="triangle"/>
          </a:ln>
        </p:spPr>
      </p:sp>
      <p:sp>
        <p:nvSpPr>
          <p:cNvPr id="18" name="Shape 16"/>
          <p:cNvSpPr/>
          <p:nvPr/>
        </p:nvSpPr>
        <p:spPr>
          <a:xfrm>
            <a:off x="5166360" y="2743200"/>
            <a:ext cx="0" cy="274320"/>
          </a:xfrm>
          <a:prstGeom prst="line">
            <a:avLst/>
          </a:prstGeom>
          <a:noFill/>
          <a:ln w="22225">
            <a:solidFill>
              <a:srgbClr val="3E4C59"/>
            </a:solidFill>
            <a:prstDash val="solid"/>
            <a:tailEnd type="triangle"/>
          </a:ln>
        </p:spPr>
      </p:sp>
      <p:sp>
        <p:nvSpPr>
          <p:cNvPr id="19" name="Shape 17"/>
          <p:cNvSpPr/>
          <p:nvPr/>
        </p:nvSpPr>
        <p:spPr>
          <a:xfrm>
            <a:off x="1325880" y="3703320"/>
            <a:ext cx="0" cy="320040"/>
          </a:xfrm>
          <a:prstGeom prst="line">
            <a:avLst/>
          </a:prstGeom>
          <a:noFill/>
          <a:ln w="22225">
            <a:solidFill>
              <a:srgbClr val="FF6B35"/>
            </a:solidFill>
            <a:prstDash val="solid"/>
          </a:ln>
        </p:spPr>
      </p:sp>
      <p:sp>
        <p:nvSpPr>
          <p:cNvPr id="20" name="Shape 18"/>
          <p:cNvSpPr/>
          <p:nvPr/>
        </p:nvSpPr>
        <p:spPr>
          <a:xfrm>
            <a:off x="3246120" y="3703320"/>
            <a:ext cx="0" cy="320040"/>
          </a:xfrm>
          <a:prstGeom prst="line">
            <a:avLst/>
          </a:prstGeom>
          <a:noFill/>
          <a:ln w="22225">
            <a:solidFill>
              <a:srgbClr val="FF6B35"/>
            </a:solidFill>
            <a:prstDash val="solid"/>
          </a:ln>
        </p:spPr>
      </p:sp>
      <p:sp>
        <p:nvSpPr>
          <p:cNvPr id="21" name="Shape 19"/>
          <p:cNvSpPr/>
          <p:nvPr/>
        </p:nvSpPr>
        <p:spPr>
          <a:xfrm>
            <a:off x="5166360" y="3703320"/>
            <a:ext cx="0" cy="320040"/>
          </a:xfrm>
          <a:prstGeom prst="line">
            <a:avLst/>
          </a:prstGeom>
          <a:noFill/>
          <a:ln w="22225">
            <a:solidFill>
              <a:srgbClr val="FF6B35"/>
            </a:solidFill>
            <a:prstDash val="solid"/>
          </a:ln>
        </p:spPr>
      </p:sp>
      <p:sp>
        <p:nvSpPr>
          <p:cNvPr id="22" name="Shape 20"/>
          <p:cNvSpPr/>
          <p:nvPr/>
        </p:nvSpPr>
        <p:spPr>
          <a:xfrm>
            <a:off x="274320" y="4023360"/>
            <a:ext cx="4892040" cy="0"/>
          </a:xfrm>
          <a:prstGeom prst="line">
            <a:avLst/>
          </a:prstGeom>
          <a:noFill/>
          <a:ln w="22225">
            <a:solidFill>
              <a:srgbClr val="FF6B35"/>
            </a:solidFill>
            <a:prstDash val="solid"/>
          </a:ln>
        </p:spPr>
      </p:sp>
      <p:sp>
        <p:nvSpPr>
          <p:cNvPr id="23" name="Shape 21"/>
          <p:cNvSpPr/>
          <p:nvPr/>
        </p:nvSpPr>
        <p:spPr>
          <a:xfrm>
            <a:off x="274320" y="1143000"/>
            <a:ext cx="0" cy="2880360"/>
          </a:xfrm>
          <a:prstGeom prst="line">
            <a:avLst/>
          </a:prstGeom>
          <a:noFill/>
          <a:ln w="22225">
            <a:solidFill>
              <a:srgbClr val="FF6B35"/>
            </a:solidFill>
            <a:prstDash val="solid"/>
          </a:ln>
        </p:spPr>
      </p:sp>
      <p:sp>
        <p:nvSpPr>
          <p:cNvPr id="24" name="Shape 22"/>
          <p:cNvSpPr/>
          <p:nvPr/>
        </p:nvSpPr>
        <p:spPr>
          <a:xfrm>
            <a:off x="274320" y="1143000"/>
            <a:ext cx="4434840" cy="0"/>
          </a:xfrm>
          <a:prstGeom prst="line">
            <a:avLst/>
          </a:prstGeom>
          <a:noFill/>
          <a:ln w="22225">
            <a:solidFill>
              <a:srgbClr val="FF6B35"/>
            </a:solidFill>
            <a:prstDash val="solid"/>
          </a:ln>
        </p:spPr>
      </p:sp>
      <p:sp>
        <p:nvSpPr>
          <p:cNvPr id="25" name="Shape 23"/>
          <p:cNvSpPr/>
          <p:nvPr/>
        </p:nvSpPr>
        <p:spPr>
          <a:xfrm>
            <a:off x="4709160" y="1143000"/>
            <a:ext cx="0" cy="411480"/>
          </a:xfrm>
          <a:prstGeom prst="line">
            <a:avLst/>
          </a:prstGeom>
          <a:noFill/>
          <a:ln w="22225">
            <a:solidFill>
              <a:srgbClr val="FF6B35"/>
            </a:solidFill>
            <a:prstDash val="solid"/>
            <a:tailEnd type="triangle"/>
          </a:ln>
        </p:spPr>
      </p:sp>
      <p:sp>
        <p:nvSpPr>
          <p:cNvPr id="26" name="Text 24"/>
          <p:cNvSpPr txBox="1"/>
          <p:nvPr/>
        </p:nvSpPr>
        <p:spPr>
          <a:xfrm>
            <a:off x="457200" y="4114800"/>
            <a:ext cx="2926080" cy="320040"/>
          </a:xfrm>
          <a:prstGeom prst="rect">
            <a:avLst/>
          </a:prstGeom>
          <a:noFill/>
          <a:ln/>
        </p:spPr>
        <p:txBody>
          <a:bodyPr wrap="square" lIns="0" tIns="0" rIns="0" bIns="0" rtlCol="0" anchor="ctr"/>
          <a:lstStyle/>
          <a:p>
            <a:pPr marL="0" indent="0">
              <a:buNone/>
            </a:pPr>
            <a:r>
              <a:rPr lang="en-US" sz="1400" b="1" dirty="0">
                <a:solidFill>
                  <a:srgbClr val="C2410C"/>
                </a:solidFill>
                <a:latin typeface="Calibri" pitchFamily="34" charset="0"/>
                <a:ea typeface="Calibri" pitchFamily="34" charset="-122"/>
                <a:cs typeface="Calibri" pitchFamily="34" charset="-120"/>
              </a:rPr>
              <a:t>Loop back to menu</a:t>
            </a:r>
            <a:endParaRPr lang="en-US" sz="1400" dirty="0"/>
          </a:p>
        </p:txBody>
      </p:sp>
      <p:sp>
        <p:nvSpPr>
          <p:cNvPr id="27" name="Shape 25"/>
          <p:cNvSpPr/>
          <p:nvPr/>
        </p:nvSpPr>
        <p:spPr>
          <a:xfrm>
            <a:off x="7086600" y="3703320"/>
            <a:ext cx="0" cy="457200"/>
          </a:xfrm>
          <a:prstGeom prst="line">
            <a:avLst/>
          </a:prstGeom>
          <a:noFill/>
          <a:ln w="22225">
            <a:solidFill>
              <a:srgbClr val="3E4C59"/>
            </a:solidFill>
            <a:prstDash val="solid"/>
            <a:tailEnd type="triangle"/>
          </a:ln>
        </p:spPr>
      </p:sp>
      <p:sp>
        <p:nvSpPr>
          <p:cNvPr id="28" name="Text 26"/>
          <p:cNvSpPr/>
          <p:nvPr/>
        </p:nvSpPr>
        <p:spPr>
          <a:xfrm>
            <a:off x="6537960" y="4160520"/>
            <a:ext cx="1097280" cy="548640"/>
          </a:xfrm>
          <a:prstGeom prst="ellipse">
            <a:avLst/>
          </a:prstGeom>
          <a:solidFill>
            <a:srgbClr val="17202A"/>
          </a:solidFill>
          <a:ln w="19050">
            <a:solidFill>
              <a:srgbClr val="17202A"/>
            </a:solid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End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4000" b="1" dirty="0">
                <a:solidFill>
                  <a:srgbClr val="1F2933"/>
                </a:solidFill>
                <a:latin typeface="Cambria" pitchFamily="34" charset="0"/>
                <a:ea typeface="Cambria" pitchFamily="34" charset="-122"/>
                <a:cs typeface="Cambria" pitchFamily="34" charset="-120"/>
              </a:rPr>
              <a:t>Course Outcome Attainment</a:t>
            </a:r>
            <a:endParaRPr lang="en-US" sz="4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7315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tblGrid>
              <a:tr h="502920">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CO</a:t>
                      </a:r>
                      <a:endParaRPr lang="en-US" sz="1800" dirty="0">
                        <a:latin typeface="Calibri" charset="0"/>
                        <a:ea typeface="Calibri" charset="0"/>
                        <a:cs typeface="Calibri" charset="0"/>
                      </a:endParaRPr>
                    </a:p>
                  </a:txBody>
                  <a:tcPr marL="109728" marR="10972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7202A"/>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Topics covered</a:t>
                      </a:r>
                      <a:endParaRPr lang="en-US" sz="1800" dirty="0">
                        <a:latin typeface="Calibri" charset="0"/>
                        <a:ea typeface="Calibri" charset="0"/>
                        <a:cs typeface="Calibri" charset="0"/>
                      </a:endParaRPr>
                    </a:p>
                  </a:txBody>
                  <a:tcPr marL="109728" marR="10972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7202A"/>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How the project attains it</a:t>
                      </a:r>
                      <a:endParaRPr lang="en-US" sz="1800" dirty="0">
                        <a:latin typeface="Calibri" charset="0"/>
                        <a:ea typeface="Calibri" charset="0"/>
                        <a:cs typeface="Calibri" charset="0"/>
                      </a:endParaRPr>
                    </a:p>
                  </a:txBody>
                  <a:tcPr marL="109728" marR="10972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7202A"/>
                    </a:solidFill>
                  </a:tcPr>
                </a:tc>
                <a:extLst>
                  <a:ext uri="{0D108BD9-81ED-4DB2-BD59-A6C34878D82A}">
                    <a16:rowId xmlns:a16="http://schemas.microsoft.com/office/drawing/2014/main" val="10000"/>
                  </a:ext>
                </a:extLst>
              </a:tr>
              <a:tr h="960120">
                <a:tc>
                  <a:txBody>
                    <a:bodyPr/>
                    <a:lstStyle/>
                    <a:p>
                      <a:pPr marL="0" indent="0">
                        <a:buNone/>
                      </a:pPr>
                      <a:r>
                        <a:rPr lang="en-US" sz="1600" b="1" dirty="0">
                          <a:solidFill>
                            <a:srgbClr val="1F2933"/>
                          </a:solidFill>
                          <a:latin typeface="Calibri" pitchFamily="34" charset="0"/>
                          <a:ea typeface="Calibri" pitchFamily="34" charset="-122"/>
                          <a:cs typeface="Calibri" pitchFamily="34" charset="-120"/>
                        </a:rPr>
                        <a:t>CO1</a:t>
                      </a:r>
                      <a:endParaRPr lang="en-US" sz="1600" dirty="0">
                        <a:latin typeface="Calibri" charset="0"/>
                        <a:ea typeface="Calibri" charset="0"/>
                        <a:cs typeface="Calibri" charset="0"/>
                      </a:endParaRPr>
                    </a:p>
                  </a:txBody>
                  <a:tcPr marL="109728" marR="10972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marL="0" indent="0">
                        <a:buNone/>
                      </a:pPr>
                      <a:r>
                        <a:rPr lang="en-US" sz="1600" dirty="0">
                          <a:solidFill>
                            <a:srgbClr val="1F2933"/>
                          </a:solidFill>
                          <a:latin typeface="Calibri" pitchFamily="34" charset="0"/>
                          <a:ea typeface="Calibri" pitchFamily="34" charset="-122"/>
                          <a:cs typeface="Calibri" pitchFamily="34" charset="-120"/>
                        </a:rPr>
                        <a:t>Scanner class, output, operators, variables</a:t>
                      </a:r>
                      <a:endParaRPr lang="en-US" sz="1600" dirty="0">
                        <a:latin typeface="Calibri" charset="0"/>
                        <a:ea typeface="Calibri" charset="0"/>
                        <a:cs typeface="Calibri" charset="0"/>
                      </a:endParaRPr>
                    </a:p>
                  </a:txBody>
                  <a:tcPr marL="109728" marR="10972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marL="0" indent="0">
                        <a:buNone/>
                      </a:pPr>
                      <a:r>
                        <a:rPr lang="en-US" sz="1600" dirty="0">
                          <a:solidFill>
                            <a:srgbClr val="1F2933"/>
                          </a:solidFill>
                          <a:latin typeface="Calibri" pitchFamily="34" charset="0"/>
                          <a:ea typeface="Calibri" pitchFamily="34" charset="-122"/>
                          <a:cs typeface="Calibri" pitchFamily="34" charset="-120"/>
                        </a:rPr>
                        <a:t>Scanner reads name, weight and workout details; variables and operators compute calories and BMI; output prints the summary</a:t>
                      </a:r>
                      <a:endParaRPr lang="en-US" sz="1600" dirty="0">
                        <a:latin typeface="Calibri" charset="0"/>
                        <a:ea typeface="Calibri" charset="0"/>
                        <a:cs typeface="Calibri" charset="0"/>
                      </a:endParaRPr>
                    </a:p>
                  </a:txBody>
                  <a:tcPr marL="109728" marR="10972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0120">
                <a:tc>
                  <a:txBody>
                    <a:bodyPr/>
                    <a:lstStyle/>
                    <a:p>
                      <a:pPr marL="0" indent="0">
                        <a:buNone/>
                      </a:pPr>
                      <a:r>
                        <a:rPr lang="en-US" sz="1600" b="1" dirty="0">
                          <a:solidFill>
                            <a:srgbClr val="1F2933"/>
                          </a:solidFill>
                          <a:latin typeface="Calibri" pitchFamily="34" charset="0"/>
                          <a:ea typeface="Calibri" pitchFamily="34" charset="-122"/>
                          <a:cs typeface="Calibri" pitchFamily="34" charset="-120"/>
                        </a:rPr>
                        <a:t>CO2</a:t>
                      </a:r>
                      <a:endParaRPr lang="en-US" sz="1600" dirty="0">
                        <a:latin typeface="Calibri" charset="0"/>
                        <a:ea typeface="Calibri" charset="0"/>
                        <a:cs typeface="Calibri" charset="0"/>
                      </a:endParaRPr>
                    </a:p>
                  </a:txBody>
                  <a:tcPr marL="109728" marR="10972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marL="0" indent="0">
                        <a:buNone/>
                      </a:pPr>
                      <a:r>
                        <a:rPr lang="en-US" sz="1600" dirty="0">
                          <a:solidFill>
                            <a:srgbClr val="1F2933"/>
                          </a:solidFill>
                          <a:latin typeface="Calibri" pitchFamily="34" charset="0"/>
                          <a:ea typeface="Calibri" pitchFamily="34" charset="-122"/>
                          <a:cs typeface="Calibri" pitchFamily="34" charset="-120"/>
                        </a:rPr>
                        <a:t>if-else-if, switch, do-while, nested loops, for</a:t>
                      </a:r>
                      <a:endParaRPr lang="en-US" sz="1600" dirty="0">
                        <a:latin typeface="Calibri" charset="0"/>
                        <a:ea typeface="Calibri" charset="0"/>
                        <a:cs typeface="Calibri" charset="0"/>
                      </a:endParaRPr>
                    </a:p>
                  </a:txBody>
                  <a:tcPr marL="109728" marR="10972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marL="0" indent="0">
                        <a:buNone/>
                      </a:pPr>
                      <a:r>
                        <a:rPr lang="en-US" sz="1600" dirty="0">
                          <a:solidFill>
                            <a:srgbClr val="1F2933"/>
                          </a:solidFill>
                          <a:latin typeface="Calibri" pitchFamily="34" charset="0"/>
                          <a:ea typeface="Calibri" pitchFamily="34" charset="-122"/>
                          <a:cs typeface="Calibri" pitchFamily="34" charset="-120"/>
                        </a:rPr>
                        <a:t>do-while menu with switch; if-else-if for BMI category; for and nested loops for the weekly report</a:t>
                      </a:r>
                      <a:endParaRPr lang="en-US" sz="1600" dirty="0">
                        <a:latin typeface="Calibri" charset="0"/>
                        <a:ea typeface="Calibri" charset="0"/>
                        <a:cs typeface="Calibri" charset="0"/>
                      </a:endParaRPr>
                    </a:p>
                  </a:txBody>
                  <a:tcPr marL="109728" marR="10972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60120">
                <a:tc>
                  <a:txBody>
                    <a:bodyPr/>
                    <a:lstStyle/>
                    <a:p>
                      <a:pPr marL="0" indent="0">
                        <a:buNone/>
                      </a:pPr>
                      <a:r>
                        <a:rPr lang="en-US" sz="1600" b="1" dirty="0">
                          <a:solidFill>
                            <a:srgbClr val="1F2933"/>
                          </a:solidFill>
                          <a:latin typeface="Calibri" pitchFamily="34" charset="0"/>
                          <a:ea typeface="Calibri" pitchFamily="34" charset="-122"/>
                          <a:cs typeface="Calibri" pitchFamily="34" charset="-120"/>
                        </a:rPr>
                        <a:t>CO3</a:t>
                      </a:r>
                      <a:endParaRPr lang="en-US" sz="1600" dirty="0">
                        <a:latin typeface="Calibri" charset="0"/>
                        <a:ea typeface="Calibri" charset="0"/>
                        <a:cs typeface="Calibri" charset="0"/>
                      </a:endParaRPr>
                    </a:p>
                  </a:txBody>
                  <a:tcPr marL="109728" marR="10972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marL="0" indent="0">
                        <a:buNone/>
                      </a:pPr>
                      <a:r>
                        <a:rPr lang="en-US" sz="1600" dirty="0">
                          <a:solidFill>
                            <a:srgbClr val="1F2933"/>
                          </a:solidFill>
                          <a:latin typeface="Calibri" pitchFamily="34" charset="0"/>
                          <a:ea typeface="Calibri" pitchFamily="34" charset="-122"/>
                          <a:cs typeface="Calibri" pitchFamily="34" charset="-120"/>
                        </a:rPr>
                        <a:t>Methods, recursion, arrays</a:t>
                      </a:r>
                      <a:endParaRPr lang="en-US" sz="1600" dirty="0">
                        <a:latin typeface="Calibri" charset="0"/>
                        <a:ea typeface="Calibri" charset="0"/>
                        <a:cs typeface="Calibri" charset="0"/>
                      </a:endParaRPr>
                    </a:p>
                  </a:txBody>
                  <a:tcPr marL="109728" marR="10972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marL="0" indent="0">
                        <a:buNone/>
                      </a:pPr>
                      <a:r>
                        <a:rPr lang="en-US" sz="1600" dirty="0">
                          <a:solidFill>
                            <a:srgbClr val="1F2933"/>
                          </a:solidFill>
                          <a:latin typeface="Calibri" pitchFamily="34" charset="0"/>
                          <a:ea typeface="Calibri" pitchFamily="34" charset="-122"/>
                          <a:cs typeface="Calibri" pitchFamily="34" charset="-120"/>
                        </a:rPr>
                        <a:t>Methods for add workout, BMI and calories; recursion for total calories; arrays store workout records</a:t>
                      </a:r>
                      <a:endParaRPr lang="en-US" sz="1600" dirty="0">
                        <a:latin typeface="Calibri" charset="0"/>
                        <a:ea typeface="Calibri" charset="0"/>
                        <a:cs typeface="Calibri" charset="0"/>
                      </a:endParaRPr>
                    </a:p>
                  </a:txBody>
                  <a:tcPr marL="109728" marR="109728"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202A"/>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804672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Result Screenshots</a:t>
            </a:r>
            <a:endParaRPr lang="en-US" sz="4000" dirty="0"/>
          </a:p>
        </p:txBody>
      </p:sp>
      <p:pic>
        <p:nvPicPr>
          <p:cNvPr id="20" name="Program output screenshot" descr="Console output of the fitness tracker showing the fitness report"/>
          <p:cNvPicPr>
            <a:picLocks noChangeAspect="1"/>
          </p:cNvPicPr>
          <p:nvPr/>
        </p:nvPicPr>
        <p:blipFill>
          <a:blip r:embed="rId3"/>
          <a:stretch>
            <a:fillRect/>
          </a:stretch>
        </p:blipFill>
        <p:spPr>
          <a:xfrm>
            <a:off x="1821180" y="1143000"/>
            <a:ext cx="5501640" cy="3474720"/>
          </a:xfrm>
          <a:prstGeom prst="rect">
            <a:avLst/>
          </a:prstGeom>
          <a:ln w="15875">
            <a:solidFill>
              <a:srgbClr val="FF6B35"/>
            </a:solidFill>
          </a:ln>
        </p:spPr>
      </p:pic>
      <p:sp>
        <p:nvSpPr>
          <p:cNvPr id="21" name="Caption"/>
          <p:cNvSpPr txBox="1"/>
          <p:nvPr/>
        </p:nvSpPr>
        <p:spPr>
          <a:xfrm>
            <a:off x="548640" y="4709160"/>
            <a:ext cx="8046720" cy="320040"/>
          </a:xfrm>
          <a:prstGeom prst="rect">
            <a:avLst/>
          </a:prstGeom>
          <a:noFill/>
        </p:spPr>
        <p:txBody>
          <a:bodyPr wrap="square" lIns="0" tIns="0" rIns="0" bIns="0" anchor="ctr"/>
          <a:lstStyle/>
          <a:p>
            <a:pPr algn="ctr"/>
            <a:r>
              <a:rPr lang="en-US" sz="1600" b="1">
                <a:solidFill>
                  <a:srgbClr val="FFFFFF"/>
                </a:solidFill>
                <a:latin typeface="Calibri"/>
              </a:rPr>
              <a:t>Program output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Fitness and Workout Tracker</dc:title>
  <dc:subject>PptxGenJS Presentation</dc:subject>
  <dc:creator>PptxGenJS</dc:creator>
  <cp:lastModifiedBy>Bhudev Nambeesan</cp:lastModifiedBy>
  <cp:revision>2</cp:revision>
  <dcterms:created xsi:type="dcterms:W3CDTF">2026-09-28T14:35:38Z</dcterms:created>
  <dcterms:modified xsi:type="dcterms:W3CDTF">2026-09-29T02:15:16Z</dcterms:modified>
</cp:coreProperties>
</file>